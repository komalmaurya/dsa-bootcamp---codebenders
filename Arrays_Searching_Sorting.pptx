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637083"/>
                </a:solidFill>
                <a:latin typeface="Aptos"/>
              </a:rPr>
              <a:t>C++ BOOTCAMP  •  VISUAL LEARNING  • 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89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1C9B91"/>
                </a:solidFill>
                <a:latin typeface="Aptos"/>
              </a:rPr>
              <a:t>C++ BOOTCAMP  /  DAY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12344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"/>
              </a:rPr>
              <a:t>Arrays, Searching
&amp; Sorting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703320"/>
            <a:ext cx="987552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000" b="0">
                <a:solidFill>
                  <a:srgbClr val="CDD9EB"/>
                </a:solidFill>
                <a:latin typeface="Aptos"/>
              </a:rPr>
              <a:t>Learn by watching each algorithm move, compare, swap and split.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800600"/>
            <a:ext cx="841248" cy="685800"/>
          </a:xfrm>
          <a:prstGeom prst="roundRect">
            <a:avLst/>
          </a:prstGeom>
          <a:solidFill>
            <a:srgbClr val="263859"/>
          </a:solidFill>
          <a:ln w="16510">
            <a:solidFill>
              <a:srgbClr val="4C6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2300" b="1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93391" y="4800600"/>
            <a:ext cx="841248" cy="685800"/>
          </a:xfrm>
          <a:prstGeom prst="roundRect">
            <a:avLst/>
          </a:prstGeom>
          <a:solidFill>
            <a:srgbClr val="263859"/>
          </a:solidFill>
          <a:ln w="16510">
            <a:solidFill>
              <a:srgbClr val="4C6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2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72384" y="4800600"/>
            <a:ext cx="841248" cy="685800"/>
          </a:xfrm>
          <a:prstGeom prst="roundRect">
            <a:avLst/>
          </a:prstGeom>
          <a:solidFill>
            <a:srgbClr val="263859"/>
          </a:solidFill>
          <a:ln w="16510">
            <a:solidFill>
              <a:srgbClr val="4C6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23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51376" y="4800600"/>
            <a:ext cx="841248" cy="685800"/>
          </a:xfrm>
          <a:prstGeom prst="roundRect">
            <a:avLst/>
          </a:prstGeom>
          <a:solidFill>
            <a:srgbClr val="263859"/>
          </a:solidFill>
          <a:ln w="16510">
            <a:solidFill>
              <a:srgbClr val="1C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2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30368" y="4800600"/>
            <a:ext cx="841248" cy="685800"/>
          </a:xfrm>
          <a:prstGeom prst="roundRect">
            <a:avLst/>
          </a:prstGeom>
          <a:solidFill>
            <a:srgbClr val="263859"/>
          </a:solidFill>
          <a:ln w="16510">
            <a:solidFill>
              <a:srgbClr val="4C6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23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4800600"/>
            <a:ext cx="841248" cy="685800"/>
          </a:xfrm>
          <a:prstGeom prst="roundRect">
            <a:avLst/>
          </a:prstGeom>
          <a:solidFill>
            <a:srgbClr val="263859"/>
          </a:solidFill>
          <a:ln w="16510">
            <a:solidFill>
              <a:srgbClr val="4C6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2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88720" y="5715000"/>
            <a:ext cx="5760720" cy="0"/>
          </a:xfrm>
          <a:prstGeom prst="line">
            <a:avLst/>
          </a:prstGeom>
          <a:ln w="31750">
            <a:solidFill>
              <a:srgbClr val="F4B4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452360" y="4892040"/>
            <a:ext cx="384048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Understand the idea first.
Then write the code.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637083"/>
                </a:solidFill>
                <a:latin typeface="Aptos"/>
              </a:rPr>
              <a:t>C++ BOOTCAMP  •  VISUAL LEARNING  •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3D"/>
                </a:solidFill>
                <a:latin typeface="Aptos"/>
              </a:rPr>
              <a:t>Today's learning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9728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637083"/>
                </a:solidFill>
                <a:latin typeface="Aptos"/>
              </a:rPr>
              <a:t>Each topic includes a visual simulation and the key idea to remember.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637083"/>
                </a:solidFill>
                <a:latin typeface="Aptos"/>
              </a:rPr>
              <a:t>C++ BOOTCAMP  •  VISUAL LEARNING  •  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337560" cy="13258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900" b="1">
                <a:solidFill>
                  <a:srgbClr val="263142"/>
                </a:solidFill>
                <a:latin typeface="Aptos"/>
              </a:rPr>
              <a:t>01   Rotate
Move elements around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691640"/>
            <a:ext cx="3337560" cy="13258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DA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900" b="1">
                <a:solidFill>
                  <a:srgbClr val="263142"/>
                </a:solidFill>
                <a:latin typeface="Aptos"/>
              </a:rPr>
              <a:t>02   Search
Find a target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1691640"/>
            <a:ext cx="3337560" cy="13258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FFF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900" b="1">
                <a:solidFill>
                  <a:srgbClr val="263142"/>
                </a:solidFill>
                <a:latin typeface="Aptos"/>
              </a:rPr>
              <a:t>03   Two pointers
Move two indices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657600"/>
            <a:ext cx="3337560" cy="13258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FC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900" b="1">
                <a:solidFill>
                  <a:srgbClr val="263142"/>
                </a:solidFill>
                <a:latin typeface="Aptos"/>
              </a:rPr>
              <a:t>04   Sort
Put values in order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3657600"/>
            <a:ext cx="3337560" cy="13258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900" b="1">
                <a:solidFill>
                  <a:srgbClr val="263142"/>
                </a:solidFill>
                <a:latin typeface="Aptos"/>
              </a:rPr>
              <a:t>05   2D arrays
Rows × columns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715000"/>
            <a:ext cx="1060704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900" b="1">
                <a:solidFill>
                  <a:srgbClr val="14223D"/>
                </a:solidFill>
                <a:latin typeface="Aptos"/>
              </a:rPr>
              <a:t>Teaching routine: Predict → Watch the dry run → Explain → Code → Practice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3D"/>
                </a:solidFill>
                <a:latin typeface="Aptos"/>
              </a:rPr>
              <a:t>1. Array rotation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9728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637083"/>
                </a:solidFill>
                <a:latin typeface="Aptos"/>
              </a:rPr>
              <a:t>Rotation changes the starting position while preserving the order of the elements.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292608"/>
            <a:ext cx="12344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1C9B91"/>
                </a:solidFill>
                <a:latin typeface="Aptos"/>
              </a:rPr>
              <a:t>ROTATION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637083"/>
                </a:solidFill>
                <a:latin typeface="Aptos"/>
              </a:rPr>
              <a:t>C++ BOOTCAMP  •  VISUAL LEARNING  • 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48463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1C9B91"/>
                </a:solidFill>
                <a:latin typeface="Aptos"/>
              </a:rPr>
              <a:t>LEFT ROTATION BY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65960"/>
            <a:ext cx="749808" cy="566928"/>
          </a:xfrm>
          <a:prstGeom prst="roundRect">
            <a:avLst/>
          </a:prstGeom>
          <a:solidFill>
            <a:srgbClr val="FFF2D2"/>
          </a:solidFill>
          <a:ln w="16510">
            <a:solidFill>
              <a:srgbClr val="F4B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2000" b="1">
                <a:solidFill>
                  <a:srgbClr val="263142"/>
                </a:solidFill>
                <a:latin typeface="Aptos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45919" y="1965960"/>
            <a:ext cx="749808" cy="56692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2000" b="1">
                <a:solidFill>
                  <a:srgbClr val="263142"/>
                </a:solidFill>
                <a:latin typeface="Aptos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79" y="1965960"/>
            <a:ext cx="749808" cy="56692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2000" b="1">
                <a:solidFill>
                  <a:srgbClr val="263142"/>
                </a:solidFill>
                <a:latin typeface="Aptos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39" y="1965960"/>
            <a:ext cx="749808" cy="56692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2000" b="1">
                <a:solidFill>
                  <a:srgbClr val="263142"/>
                </a:solidFill>
                <a:latin typeface="Aptos"/>
              </a:rP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1965960"/>
            <a:ext cx="749808" cy="56692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2000" b="1">
                <a:solidFill>
                  <a:srgbClr val="263142"/>
                </a:solidFill>
                <a:latin typeface="Aptos"/>
              </a:rPr>
              <a:t>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43000" y="2788920"/>
            <a:ext cx="3794760" cy="0"/>
          </a:xfrm>
          <a:prstGeom prst="line">
            <a:avLst/>
          </a:prstGeom>
          <a:ln w="30480">
            <a:solidFill>
              <a:srgbClr val="F4B4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4400" y="2971800"/>
            <a:ext cx="42976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0">
                <a:solidFill>
                  <a:srgbClr val="637083"/>
                </a:solidFill>
                <a:latin typeface="Aptos"/>
              </a:rPr>
              <a:t>First element wraps to the 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520440"/>
            <a:ext cx="749808" cy="56692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2000" b="1">
                <a:solidFill>
                  <a:srgbClr val="263142"/>
                </a:solidFill>
                <a:latin typeface="Aptos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45919" y="3520440"/>
            <a:ext cx="749808" cy="56692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2000" b="1">
                <a:solidFill>
                  <a:srgbClr val="263142"/>
                </a:solidFill>
                <a:latin typeface="Aptos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68879" y="3520440"/>
            <a:ext cx="749808" cy="56692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2000" b="1">
                <a:solidFill>
                  <a:srgbClr val="263142"/>
                </a:solidFill>
                <a:latin typeface="Aptos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39" y="3520440"/>
            <a:ext cx="749808" cy="56692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2000" b="1">
                <a:solidFill>
                  <a:srgbClr val="263142"/>
                </a:solidFill>
                <a:latin typeface="Aptos"/>
              </a:rPr>
              <a:t>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0" y="3520440"/>
            <a:ext cx="749808" cy="566928"/>
          </a:xfrm>
          <a:prstGeom prst="roundRect">
            <a:avLst/>
          </a:prstGeom>
          <a:solidFill>
            <a:srgbClr val="DAF4EF"/>
          </a:solidFill>
          <a:ln w="16510">
            <a:solidFill>
              <a:srgbClr val="1C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2000" b="1">
                <a:solidFill>
                  <a:srgbClr val="263142"/>
                </a:solidFill>
                <a:latin typeface="Aptos"/>
              </a:rPr>
              <a:t>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1600200"/>
            <a:ext cx="5212080" cy="10972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900" b="1">
                <a:solidFill>
                  <a:srgbClr val="263142"/>
                </a:solidFill>
                <a:latin typeface="Aptos"/>
              </a:rPr>
              <a:t>RIGHT ROTATION BY 1
[1, 2, 3, 4, 5] → [5, 1, 2, 3, 4]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154680"/>
            <a:ext cx="4846320" cy="21031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3142"/>
                </a:solidFill>
                <a:latin typeface="Aptos"/>
              </a:defRPr>
            </a:pPr>
            <a:r>
              <a:t>Left: first element moves to the end.</a:t>
            </a:r>
          </a:p>
          <a:p>
            <a:pPr>
              <a:spcAft>
                <a:spcPts val="800"/>
              </a:spcAft>
              <a:defRPr sz="1700">
                <a:solidFill>
                  <a:srgbClr val="263142"/>
                </a:solidFill>
                <a:latin typeface="Aptos"/>
              </a:defRPr>
            </a:pPr>
            <a:r>
              <a:t>Right: last element moves to the beginning.</a:t>
            </a:r>
          </a:p>
          <a:p>
            <a:pPr>
              <a:spcAft>
                <a:spcPts val="800"/>
              </a:spcAft>
              <a:defRPr sz="1700">
                <a:solidFill>
                  <a:srgbClr val="263142"/>
                </a:solidFill>
                <a:latin typeface="Aptos"/>
              </a:defRPr>
            </a:pPr>
            <a:r>
              <a:t>For k rotations, use k %= 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5349240"/>
            <a:ext cx="45720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3068BE"/>
                </a:solidFill>
                <a:latin typeface="Aptos"/>
              </a:rPr>
              <a:t>Ask: What happens when k = array length?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3D"/>
                </a:solidFill>
                <a:latin typeface="Aptos"/>
              </a:rPr>
              <a:t>Rotation simulation: left by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9728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637083"/>
                </a:solidFill>
                <a:latin typeface="Aptos"/>
              </a:rPr>
              <a:t>Reversal trick: reverse the first part, reverse the rest, then reverse everything.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292608"/>
            <a:ext cx="12344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1C9B91"/>
                </a:solidFill>
                <a:latin typeface="Aptos"/>
              </a:rPr>
              <a:t>ROTATION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637083"/>
                </a:solidFill>
                <a:latin typeface="Aptos"/>
              </a:rPr>
              <a:t>C++ BOOTCAMP  •  VISUAL LEARNING  • 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201168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14223D"/>
                </a:solidFill>
                <a:latin typeface="Aptos"/>
              </a:rPr>
              <a:t>Start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463040"/>
            <a:ext cx="777240" cy="53035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800" b="1">
                <a:solidFill>
                  <a:srgbClr val="263142"/>
                </a:solidFill>
                <a:latin typeface="Aptos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93591" y="1463040"/>
            <a:ext cx="777240" cy="53035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800" b="1">
                <a:solidFill>
                  <a:srgbClr val="263142"/>
                </a:solidFill>
                <a:latin typeface="Aptos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3983" y="1463040"/>
            <a:ext cx="777240" cy="53035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800" b="1">
                <a:solidFill>
                  <a:srgbClr val="263142"/>
                </a:solidFill>
                <a:latin typeface="Aptos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94376" y="1463040"/>
            <a:ext cx="777240" cy="53035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800" b="1">
                <a:solidFill>
                  <a:srgbClr val="263142"/>
                </a:solidFill>
                <a:latin typeface="Aptos"/>
              </a:rP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1463040"/>
            <a:ext cx="777240" cy="53035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800" b="1">
                <a:solidFill>
                  <a:srgbClr val="263142"/>
                </a:solidFill>
                <a:latin typeface="Aptos"/>
              </a:rP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5159" y="1463040"/>
            <a:ext cx="777240" cy="53035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800" b="1">
                <a:solidFill>
                  <a:srgbClr val="263142"/>
                </a:solidFill>
                <a:latin typeface="Aptos"/>
              </a:rPr>
              <a:t>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45552" y="1463040"/>
            <a:ext cx="777240" cy="53035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800" b="1">
                <a:solidFill>
                  <a:srgbClr val="263142"/>
                </a:solidFill>
                <a:latin typeface="Aptos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679192"/>
            <a:ext cx="201168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14223D"/>
                </a:solidFill>
                <a:latin typeface="Aptos"/>
              </a:rPr>
              <a:t>1. Reverse first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2587752"/>
            <a:ext cx="777240" cy="530352"/>
          </a:xfrm>
          <a:prstGeom prst="roundRect">
            <a:avLst/>
          </a:prstGeom>
          <a:solidFill>
            <a:srgbClr val="FFF2D2"/>
          </a:solidFill>
          <a:ln w="16510">
            <a:solidFill>
              <a:srgbClr val="F4B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800" b="1">
                <a:solidFill>
                  <a:srgbClr val="263142"/>
                </a:solidFill>
                <a:latin typeface="Aptos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93591" y="2587752"/>
            <a:ext cx="777240" cy="530352"/>
          </a:xfrm>
          <a:prstGeom prst="roundRect">
            <a:avLst/>
          </a:prstGeom>
          <a:solidFill>
            <a:srgbClr val="FFF2D2"/>
          </a:solidFill>
          <a:ln w="16510">
            <a:solidFill>
              <a:srgbClr val="F4B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800" b="1">
                <a:solidFill>
                  <a:srgbClr val="263142"/>
                </a:solidFill>
                <a:latin typeface="Aptos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43983" y="2587752"/>
            <a:ext cx="777240" cy="53035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800" b="1">
                <a:solidFill>
                  <a:srgbClr val="263142"/>
                </a:solidFill>
                <a:latin typeface="Aptos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94376" y="2587752"/>
            <a:ext cx="777240" cy="53035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800" b="1">
                <a:solidFill>
                  <a:srgbClr val="263142"/>
                </a:solidFill>
                <a:latin typeface="Aptos"/>
              </a:rP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4768" y="2587752"/>
            <a:ext cx="777240" cy="53035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800" b="1">
                <a:solidFill>
                  <a:srgbClr val="263142"/>
                </a:solidFill>
                <a:latin typeface="Aptos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95159" y="2587752"/>
            <a:ext cx="777240" cy="53035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800" b="1">
                <a:solidFill>
                  <a:srgbClr val="263142"/>
                </a:solidFill>
                <a:latin typeface="Aptos"/>
              </a:rPr>
              <a:t>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45552" y="2587752"/>
            <a:ext cx="777240" cy="53035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800" b="1">
                <a:solidFill>
                  <a:srgbClr val="263142"/>
                </a:solidFill>
                <a:latin typeface="Aptos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803904"/>
            <a:ext cx="201168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14223D"/>
                </a:solidFill>
                <a:latin typeface="Aptos"/>
              </a:rPr>
              <a:t>2. Reverse rest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0" y="3712464"/>
            <a:ext cx="777240" cy="53035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800" b="1">
                <a:solidFill>
                  <a:srgbClr val="263142"/>
                </a:solidFill>
                <a:latin typeface="Aptos"/>
              </a:rPr>
              <a:t>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93591" y="3712464"/>
            <a:ext cx="777240" cy="53035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800" b="1">
                <a:solidFill>
                  <a:srgbClr val="263142"/>
                </a:solidFill>
                <a:latin typeface="Aptos"/>
              </a:rPr>
              <a:t>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43983" y="3712464"/>
            <a:ext cx="777240" cy="530352"/>
          </a:xfrm>
          <a:prstGeom prst="roundRect">
            <a:avLst/>
          </a:prstGeom>
          <a:solidFill>
            <a:srgbClr val="DAF4EF"/>
          </a:solidFill>
          <a:ln w="16510">
            <a:solidFill>
              <a:srgbClr val="1C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800" b="1">
                <a:solidFill>
                  <a:srgbClr val="263142"/>
                </a:solidFill>
                <a:latin typeface="Aptos"/>
              </a:rPr>
              <a:t>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94376" y="3712464"/>
            <a:ext cx="777240" cy="530352"/>
          </a:xfrm>
          <a:prstGeom prst="roundRect">
            <a:avLst/>
          </a:prstGeom>
          <a:solidFill>
            <a:srgbClr val="DAF4EF"/>
          </a:solidFill>
          <a:ln w="16510">
            <a:solidFill>
              <a:srgbClr val="1C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800" b="1">
                <a:solidFill>
                  <a:srgbClr val="263142"/>
                </a:solidFill>
                <a:latin typeface="Aptos"/>
              </a:rPr>
              <a:t>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44768" y="3712464"/>
            <a:ext cx="777240" cy="530352"/>
          </a:xfrm>
          <a:prstGeom prst="roundRect">
            <a:avLst/>
          </a:prstGeom>
          <a:solidFill>
            <a:srgbClr val="DAF4EF"/>
          </a:solidFill>
          <a:ln w="16510">
            <a:solidFill>
              <a:srgbClr val="1C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800" b="1">
                <a:solidFill>
                  <a:srgbClr val="263142"/>
                </a:solidFill>
                <a:latin typeface="Aptos"/>
              </a:rPr>
              <a:t>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95159" y="3712464"/>
            <a:ext cx="777240" cy="530352"/>
          </a:xfrm>
          <a:prstGeom prst="roundRect">
            <a:avLst/>
          </a:prstGeom>
          <a:solidFill>
            <a:srgbClr val="DAF4EF"/>
          </a:solidFill>
          <a:ln w="16510">
            <a:solidFill>
              <a:srgbClr val="1C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800" b="1">
                <a:solidFill>
                  <a:srgbClr val="263142"/>
                </a:solidFill>
                <a:latin typeface="Aptos"/>
              </a:rPr>
              <a:t>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45552" y="3712464"/>
            <a:ext cx="777240" cy="530352"/>
          </a:xfrm>
          <a:prstGeom prst="roundRect">
            <a:avLst/>
          </a:prstGeom>
          <a:solidFill>
            <a:srgbClr val="DAF4EF"/>
          </a:solidFill>
          <a:ln w="16510">
            <a:solidFill>
              <a:srgbClr val="1C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800" b="1">
                <a:solidFill>
                  <a:srgbClr val="263142"/>
                </a:solidFill>
                <a:latin typeface="Aptos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928616"/>
            <a:ext cx="201168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14223D"/>
                </a:solidFill>
                <a:latin typeface="Aptos"/>
              </a:rPr>
              <a:t>3. Reverse all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0" y="4837176"/>
            <a:ext cx="777240" cy="530352"/>
          </a:xfrm>
          <a:prstGeom prst="roundRect">
            <a:avLst/>
          </a:prstGeom>
          <a:solidFill>
            <a:srgbClr val="E0EBFB"/>
          </a:solidFill>
          <a:ln w="16510">
            <a:solidFill>
              <a:srgbClr val="30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800" b="1">
                <a:solidFill>
                  <a:srgbClr val="263142"/>
                </a:solidFill>
                <a:latin typeface="Aptos"/>
              </a:rPr>
              <a:t>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593591" y="4837176"/>
            <a:ext cx="777240" cy="530352"/>
          </a:xfrm>
          <a:prstGeom prst="roundRect">
            <a:avLst/>
          </a:prstGeom>
          <a:solidFill>
            <a:srgbClr val="E0EBFB"/>
          </a:solidFill>
          <a:ln w="16510">
            <a:solidFill>
              <a:srgbClr val="30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800" b="1">
                <a:solidFill>
                  <a:srgbClr val="263142"/>
                </a:solidFill>
                <a:latin typeface="Aptos"/>
              </a:rPr>
              <a:t>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43983" y="4837176"/>
            <a:ext cx="777240" cy="530352"/>
          </a:xfrm>
          <a:prstGeom prst="roundRect">
            <a:avLst/>
          </a:prstGeom>
          <a:solidFill>
            <a:srgbClr val="E0EBFB"/>
          </a:solidFill>
          <a:ln w="16510">
            <a:solidFill>
              <a:srgbClr val="30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800" b="1">
                <a:solidFill>
                  <a:srgbClr val="263142"/>
                </a:solidFill>
                <a:latin typeface="Aptos"/>
              </a:rPr>
              <a:t>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294376" y="4837176"/>
            <a:ext cx="777240" cy="530352"/>
          </a:xfrm>
          <a:prstGeom prst="roundRect">
            <a:avLst/>
          </a:prstGeom>
          <a:solidFill>
            <a:srgbClr val="E0EBFB"/>
          </a:solidFill>
          <a:ln w="16510">
            <a:solidFill>
              <a:srgbClr val="30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800" b="1">
                <a:solidFill>
                  <a:srgbClr val="263142"/>
                </a:solidFill>
                <a:latin typeface="Aptos"/>
              </a:rPr>
              <a:t>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44768" y="4837176"/>
            <a:ext cx="777240" cy="530352"/>
          </a:xfrm>
          <a:prstGeom prst="roundRect">
            <a:avLst/>
          </a:prstGeom>
          <a:solidFill>
            <a:srgbClr val="E0EBFB"/>
          </a:solidFill>
          <a:ln w="16510">
            <a:solidFill>
              <a:srgbClr val="30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800" b="1">
                <a:solidFill>
                  <a:srgbClr val="263142"/>
                </a:solidFill>
                <a:latin typeface="Aptos"/>
              </a:rPr>
              <a:t>7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95159" y="4837176"/>
            <a:ext cx="777240" cy="530352"/>
          </a:xfrm>
          <a:prstGeom prst="roundRect">
            <a:avLst/>
          </a:prstGeom>
          <a:solidFill>
            <a:srgbClr val="E0EBFB"/>
          </a:solidFill>
          <a:ln w="16510">
            <a:solidFill>
              <a:srgbClr val="30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800" b="1">
                <a:solidFill>
                  <a:srgbClr val="263142"/>
                </a:solidFill>
                <a:latin typeface="Aptos"/>
              </a:rPr>
              <a:t>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845552" y="4837176"/>
            <a:ext cx="777240" cy="530352"/>
          </a:xfrm>
          <a:prstGeom prst="roundRect">
            <a:avLst/>
          </a:prstGeom>
          <a:solidFill>
            <a:srgbClr val="E0EBFB"/>
          </a:solidFill>
          <a:ln w="16510">
            <a:solidFill>
              <a:srgbClr val="30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800" b="1">
                <a:solidFill>
                  <a:srgbClr val="263142"/>
                </a:solidFill>
                <a:latin typeface="Aptos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0" y="2011680"/>
            <a:ext cx="2377440" cy="21945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800" b="1">
                <a:solidFill>
                  <a:srgbClr val="1C9B91"/>
                </a:solidFill>
                <a:latin typeface="Aptos"/>
              </a:rPr>
              <a:t>Result
[3, 4, 5, 6, 7, 1, 2]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15400" y="4937760"/>
            <a:ext cx="256032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400" b="1">
                <a:solidFill>
                  <a:srgbClr val="637083"/>
                </a:solidFill>
                <a:latin typeface="Aptos"/>
              </a:rPr>
              <a:t>Time: O(n)
Extra space: O(1)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3D"/>
                </a:solidFill>
                <a:latin typeface="Aptos"/>
              </a:rPr>
              <a:t>2. Linear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9728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637083"/>
                </a:solidFill>
                <a:latin typeface="Aptos"/>
              </a:rPr>
              <a:t>Check each element from left to right until the target is found.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292608"/>
            <a:ext cx="12344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1C9B91"/>
                </a:solidFill>
                <a:latin typeface="Aptos"/>
              </a:rPr>
              <a:t>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637083"/>
                </a:solidFill>
                <a:latin typeface="Aptos"/>
              </a:rPr>
              <a:t>C++ BOOTCAMP  •  VISUAL LEARNING  • 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36576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3D"/>
                </a:solidFill>
                <a:latin typeface="Aptos"/>
              </a:rPr>
              <a:t>Array: [10, 25, 7, 40, 18]    Target = 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965960"/>
            <a:ext cx="914400" cy="548640"/>
          </a:xfrm>
          <a:prstGeom prst="roundRect">
            <a:avLst/>
          </a:prstGeom>
          <a:solidFill>
            <a:srgbClr val="E0EBFB"/>
          </a:solidFill>
          <a:ln w="16510">
            <a:solidFill>
              <a:srgbClr val="30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500" b="1">
                <a:solidFill>
                  <a:srgbClr val="14223D"/>
                </a:solidFill>
                <a:latin typeface="Aptos"/>
              </a:rPr>
              <a:t>a[0]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65960" y="1965960"/>
            <a:ext cx="914400" cy="54864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900" b="1">
                <a:solidFill>
                  <a:srgbClr val="263142"/>
                </a:solidFill>
                <a:latin typeface="Aptos"/>
              </a:rPr>
              <a:t>10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63240" y="2240279"/>
            <a:ext cx="685799" cy="0"/>
          </a:xfrm>
          <a:prstGeom prst="line">
            <a:avLst/>
          </a:prstGeom>
          <a:ln w="19050">
            <a:solidFill>
              <a:srgbClr val="6370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886200" y="2039112"/>
            <a:ext cx="14630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637083"/>
                </a:solidFill>
                <a:latin typeface="Aptos"/>
              </a:rPr>
              <a:t>Check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788920"/>
            <a:ext cx="914400" cy="548640"/>
          </a:xfrm>
          <a:prstGeom prst="roundRect">
            <a:avLst/>
          </a:prstGeom>
          <a:solidFill>
            <a:srgbClr val="E0EBFB"/>
          </a:solidFill>
          <a:ln w="16510">
            <a:solidFill>
              <a:srgbClr val="30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500" b="1">
                <a:solidFill>
                  <a:srgbClr val="14223D"/>
                </a:solidFill>
                <a:latin typeface="Aptos"/>
              </a:rPr>
              <a:t>a[1]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65960" y="2788920"/>
            <a:ext cx="914400" cy="54864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900" b="1">
                <a:solidFill>
                  <a:srgbClr val="263142"/>
                </a:solidFill>
                <a:latin typeface="Aptos"/>
              </a:rPr>
              <a:t>25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63240" y="3063239"/>
            <a:ext cx="685799" cy="0"/>
          </a:xfrm>
          <a:prstGeom prst="line">
            <a:avLst/>
          </a:prstGeom>
          <a:ln w="19050">
            <a:solidFill>
              <a:srgbClr val="6370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886200" y="2862072"/>
            <a:ext cx="14630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637083"/>
                </a:solidFill>
                <a:latin typeface="Aptos"/>
              </a:rPr>
              <a:t>Check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611880"/>
            <a:ext cx="914400" cy="548640"/>
          </a:xfrm>
          <a:prstGeom prst="roundRect">
            <a:avLst/>
          </a:prstGeom>
          <a:solidFill>
            <a:srgbClr val="E0EBFB"/>
          </a:solidFill>
          <a:ln w="16510">
            <a:solidFill>
              <a:srgbClr val="30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500" b="1">
                <a:solidFill>
                  <a:srgbClr val="14223D"/>
                </a:solidFill>
                <a:latin typeface="Aptos"/>
              </a:rPr>
              <a:t>a[2]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65960" y="3611880"/>
            <a:ext cx="914400" cy="54864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900" b="1">
                <a:solidFill>
                  <a:srgbClr val="263142"/>
                </a:solidFill>
                <a:latin typeface="Aptos"/>
              </a:rPr>
              <a:t>7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063240" y="3886200"/>
            <a:ext cx="685799" cy="0"/>
          </a:xfrm>
          <a:prstGeom prst="line">
            <a:avLst/>
          </a:prstGeom>
          <a:ln w="19050">
            <a:solidFill>
              <a:srgbClr val="6370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886200" y="3685032"/>
            <a:ext cx="14630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637083"/>
                </a:solidFill>
                <a:latin typeface="Aptos"/>
              </a:rPr>
              <a:t>Check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434840"/>
            <a:ext cx="914400" cy="548640"/>
          </a:xfrm>
          <a:prstGeom prst="roundRect">
            <a:avLst/>
          </a:prstGeom>
          <a:solidFill>
            <a:srgbClr val="E0EBFB"/>
          </a:solidFill>
          <a:ln w="16510">
            <a:solidFill>
              <a:srgbClr val="30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500" b="1">
                <a:solidFill>
                  <a:srgbClr val="14223D"/>
                </a:solidFill>
                <a:latin typeface="Aptos"/>
              </a:rPr>
              <a:t>a[3]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65960" y="4434840"/>
            <a:ext cx="914400" cy="548640"/>
          </a:xfrm>
          <a:prstGeom prst="roundRect">
            <a:avLst/>
          </a:prstGeom>
          <a:solidFill>
            <a:srgbClr val="DAF4EF"/>
          </a:solidFill>
          <a:ln w="16510">
            <a:solidFill>
              <a:srgbClr val="1C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900" b="1">
                <a:solidFill>
                  <a:srgbClr val="263142"/>
                </a:solidFill>
                <a:latin typeface="Aptos"/>
              </a:rPr>
              <a:t>40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063240" y="4709159"/>
            <a:ext cx="685799" cy="0"/>
          </a:xfrm>
          <a:prstGeom prst="line">
            <a:avLst/>
          </a:prstGeom>
          <a:ln w="19050">
            <a:solidFill>
              <a:srgbClr val="1C9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886200" y="4507992"/>
            <a:ext cx="14630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329B64"/>
                </a:solidFill>
                <a:latin typeface="Aptos"/>
              </a:rPr>
              <a:t>FOUND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06440" y="1828800"/>
            <a:ext cx="5029200" cy="1097280"/>
          </a:xfrm>
          <a:prstGeom prst="roundRect">
            <a:avLst/>
          </a:prstGeom>
          <a:solidFill>
            <a:srgbClr val="DAF4EF"/>
          </a:solidFill>
          <a:ln w="16510">
            <a:solidFill>
              <a:srgbClr val="1C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2500" b="1">
                <a:solidFill>
                  <a:srgbClr val="329B64"/>
                </a:solidFill>
                <a:latin typeface="Aptos"/>
              </a:rPr>
              <a:t>Return index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3429000"/>
            <a:ext cx="4846320" cy="1645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3142"/>
                </a:solidFill>
                <a:latin typeface="Aptos"/>
              </a:defRPr>
            </a:pPr>
            <a:r>
              <a:t>Works on sorted and unsorted arrays.</a:t>
            </a:r>
          </a:p>
          <a:p>
            <a:pPr>
              <a:spcAft>
                <a:spcPts val="800"/>
              </a:spcAft>
              <a:defRPr sz="1700">
                <a:solidFill>
                  <a:srgbClr val="263142"/>
                </a:solidFill>
                <a:latin typeface="Aptos"/>
              </a:defRPr>
            </a:pPr>
            <a:r>
              <a:t>Worst case: inspect all n elements.</a:t>
            </a:r>
          </a:p>
          <a:p>
            <a:pPr>
              <a:spcAft>
                <a:spcPts val="800"/>
              </a:spcAft>
              <a:defRPr sz="1700">
                <a:solidFill>
                  <a:srgbClr val="263142"/>
                </a:solidFill>
                <a:latin typeface="Aptos"/>
              </a:defRPr>
            </a:pPr>
            <a:r>
              <a:t>Time O(n), extra space O(1).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5349240"/>
            <a:ext cx="49377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3068BE"/>
                </a:solidFill>
                <a:latin typeface="Aptos"/>
              </a:rPr>
              <a:t>If target is absent, return -1.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3D"/>
                </a:solidFill>
                <a:latin typeface="Aptos"/>
              </a:rPr>
              <a:t>3. Binary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9728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637083"/>
                </a:solidFill>
                <a:latin typeface="Aptos"/>
              </a:rPr>
              <a:t>Works on a sorted array: discard half the search range after each comparison.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292608"/>
            <a:ext cx="12344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1C9B91"/>
                </a:solidFill>
                <a:latin typeface="Aptos"/>
              </a:rPr>
              <a:t>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637083"/>
                </a:solidFill>
                <a:latin typeface="Aptos"/>
              </a:rPr>
              <a:t>C++ BOOTCAMP  •  VISUAL LEARNING  • 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53312"/>
            <a:ext cx="58521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14223D"/>
                </a:solidFill>
                <a:latin typeface="Aptos"/>
              </a:rPr>
              <a:t>Array: [2, 5, 8, 12, 16, 23, 38]     Target =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16002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14223D"/>
                </a:solidFill>
                <a:latin typeface="Aptos"/>
              </a:rPr>
              <a:t>Step 1: mid =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1828800"/>
            <a:ext cx="566928" cy="5029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500" b="1">
                <a:solidFill>
                  <a:srgbClr val="263142"/>
                </a:solidFill>
                <a:latin typeface="Aptos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81528" y="1828800"/>
            <a:ext cx="566928" cy="5029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500" b="1">
                <a:solidFill>
                  <a:srgbClr val="263142"/>
                </a:solidFill>
                <a:latin typeface="Aptos"/>
              </a:rPr>
              <a:t>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94176" y="1828800"/>
            <a:ext cx="566928" cy="5029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500" b="1">
                <a:solidFill>
                  <a:srgbClr val="263142"/>
                </a:solidFill>
                <a:latin typeface="Aptos"/>
              </a:rPr>
              <a:t>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1828800"/>
            <a:ext cx="566928" cy="502920"/>
          </a:xfrm>
          <a:prstGeom prst="roundRect">
            <a:avLst/>
          </a:prstGeom>
          <a:solidFill>
            <a:srgbClr val="FFF2D2"/>
          </a:solidFill>
          <a:ln w="16510">
            <a:solidFill>
              <a:srgbClr val="F4B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500" b="1">
                <a:solidFill>
                  <a:srgbClr val="263142"/>
                </a:solidFill>
                <a:latin typeface="Aptos"/>
              </a:rPr>
              <a:t>12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19472" y="1828800"/>
            <a:ext cx="566928" cy="5029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500" b="1">
                <a:solidFill>
                  <a:srgbClr val="263142"/>
                </a:solidFill>
                <a:latin typeface="Aptos"/>
              </a:rPr>
              <a:t>16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32120" y="1828800"/>
            <a:ext cx="566928" cy="5029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500" b="1">
                <a:solidFill>
                  <a:srgbClr val="263142"/>
                </a:solidFill>
                <a:latin typeface="Aptos"/>
              </a:rPr>
              <a:t>23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828800"/>
            <a:ext cx="566928" cy="5029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500" b="1">
                <a:solidFill>
                  <a:srgbClr val="263142"/>
                </a:solidFill>
                <a:latin typeface="Aptos"/>
              </a:rPr>
              <a:t>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1938528"/>
            <a:ext cx="41148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63142"/>
                </a:solidFill>
                <a:latin typeface="Aptos"/>
              </a:rPr>
              <a:t>16 &gt; 12 → search right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200400"/>
            <a:ext cx="16002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14223D"/>
                </a:solidFill>
                <a:latin typeface="Aptos"/>
              </a:rPr>
              <a:t>Step 2: mid = 23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68880" y="3063240"/>
            <a:ext cx="566928" cy="5029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500" b="1">
                <a:solidFill>
                  <a:srgbClr val="263142"/>
                </a:solidFill>
                <a:latin typeface="Aptos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81528" y="3063240"/>
            <a:ext cx="566928" cy="5029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500" b="1">
                <a:solidFill>
                  <a:srgbClr val="263142"/>
                </a:solidFill>
                <a:latin typeface="Aptos"/>
              </a:rP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94176" y="3063240"/>
            <a:ext cx="566928" cy="5029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500" b="1">
                <a:solidFill>
                  <a:srgbClr val="263142"/>
                </a:solidFill>
                <a:latin typeface="Aptos"/>
              </a:rPr>
              <a:t>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06824" y="3063240"/>
            <a:ext cx="566928" cy="5029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500" b="1">
                <a:solidFill>
                  <a:srgbClr val="263142"/>
                </a:solidFill>
                <a:latin typeface="Aptos"/>
              </a:rPr>
              <a:t>12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19472" y="3063240"/>
            <a:ext cx="566928" cy="502920"/>
          </a:xfrm>
          <a:prstGeom prst="roundRect">
            <a:avLst/>
          </a:prstGeom>
          <a:solidFill>
            <a:srgbClr val="DAF4EF"/>
          </a:solidFill>
          <a:ln w="16510">
            <a:solidFill>
              <a:srgbClr val="1C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500" b="1">
                <a:solidFill>
                  <a:srgbClr val="263142"/>
                </a:solidFill>
                <a:latin typeface="Aptos"/>
              </a:rPr>
              <a:t>16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32120" y="3063240"/>
            <a:ext cx="566928" cy="502920"/>
          </a:xfrm>
          <a:prstGeom prst="roundRect">
            <a:avLst/>
          </a:prstGeom>
          <a:solidFill>
            <a:srgbClr val="FFF2D2"/>
          </a:solidFill>
          <a:ln w="16510">
            <a:solidFill>
              <a:srgbClr val="F4B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500" b="1">
                <a:solidFill>
                  <a:srgbClr val="263142"/>
                </a:solidFill>
                <a:latin typeface="Aptos"/>
              </a:rPr>
              <a:t>23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44768" y="3063240"/>
            <a:ext cx="566928" cy="502920"/>
          </a:xfrm>
          <a:prstGeom prst="roundRect">
            <a:avLst/>
          </a:prstGeom>
          <a:solidFill>
            <a:srgbClr val="DAF4EF"/>
          </a:solidFill>
          <a:ln w="16510">
            <a:solidFill>
              <a:srgbClr val="1C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500" b="1">
                <a:solidFill>
                  <a:srgbClr val="263142"/>
                </a:solidFill>
                <a:latin typeface="Aptos"/>
              </a:rPr>
              <a:t>38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3172968"/>
            <a:ext cx="41148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63142"/>
                </a:solidFill>
                <a:latin typeface="Aptos"/>
              </a:rPr>
              <a:t>16 &lt; 23 → search left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434840"/>
            <a:ext cx="16002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14223D"/>
                </a:solidFill>
                <a:latin typeface="Aptos"/>
              </a:rPr>
              <a:t>Step 3: found 16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468880" y="4297680"/>
            <a:ext cx="566928" cy="5029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500" b="1">
                <a:solidFill>
                  <a:srgbClr val="263142"/>
                </a:solidFill>
                <a:latin typeface="Aptos"/>
              </a:rPr>
              <a:t>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81528" y="4297680"/>
            <a:ext cx="566928" cy="5029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500" b="1">
                <a:solidFill>
                  <a:srgbClr val="263142"/>
                </a:solidFill>
                <a:latin typeface="Aptos"/>
              </a:rPr>
              <a:t>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94176" y="4297680"/>
            <a:ext cx="566928" cy="5029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500" b="1">
                <a:solidFill>
                  <a:srgbClr val="263142"/>
                </a:solidFill>
                <a:latin typeface="Aptos"/>
              </a:rPr>
              <a:t>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6824" y="4297680"/>
            <a:ext cx="566928" cy="5029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500" b="1">
                <a:solidFill>
                  <a:srgbClr val="263142"/>
                </a:solidFill>
                <a:latin typeface="Aptos"/>
              </a:rPr>
              <a:t>12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19472" y="4297680"/>
            <a:ext cx="566928" cy="502920"/>
          </a:xfrm>
          <a:prstGeom prst="roundRect">
            <a:avLst/>
          </a:prstGeom>
          <a:solidFill>
            <a:srgbClr val="DAF4EF"/>
          </a:solidFill>
          <a:ln w="16510">
            <a:solidFill>
              <a:srgbClr val="1C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500" b="1">
                <a:solidFill>
                  <a:srgbClr val="263142"/>
                </a:solidFill>
                <a:latin typeface="Aptos"/>
              </a:rPr>
              <a:t>16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532120" y="4297680"/>
            <a:ext cx="566928" cy="5029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500" b="1">
                <a:solidFill>
                  <a:srgbClr val="263142"/>
                </a:solidFill>
                <a:latin typeface="Aptos"/>
              </a:rPr>
              <a:t>23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44768" y="4297680"/>
            <a:ext cx="566928" cy="5029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500" b="1">
                <a:solidFill>
                  <a:srgbClr val="263142"/>
                </a:solidFill>
                <a:latin typeface="Aptos"/>
              </a:rPr>
              <a:t>38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4407408"/>
            <a:ext cx="41148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1C9B91"/>
                </a:solidFill>
                <a:latin typeface="Aptos"/>
              </a:rPr>
              <a:t>Return index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669280"/>
            <a:ext cx="105156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3068BE"/>
                </a:solidFill>
                <a:latin typeface="Aptos"/>
              </a:rPr>
              <a:t>low = 0, high = n−1     |     mid = low + (high−low)/2     |     Time: O(log 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3D"/>
                </a:solidFill>
                <a:latin typeface="Aptos"/>
              </a:rPr>
              <a:t>4. Two pointers: reverse an array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9728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637083"/>
                </a:solidFill>
                <a:latin typeface="Aptos"/>
              </a:rPr>
              <a:t>Start at both ends, swap, then move inward.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292608"/>
            <a:ext cx="12344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1C9B91"/>
                </a:solidFill>
                <a:latin typeface="Aptos"/>
              </a:rPr>
              <a:t>TWO POINTERS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637083"/>
                </a:solidFill>
                <a:latin typeface="Aptos"/>
              </a:rPr>
              <a:t>C++ BOOTCAMP  •  VISUAL LEARNING  • 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51206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14223D"/>
                </a:solidFill>
                <a:latin typeface="Aptos"/>
              </a:rPr>
              <a:t>Start: [10, 20, 30, 40, 50]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965960"/>
            <a:ext cx="868680" cy="566928"/>
          </a:xfrm>
          <a:prstGeom prst="roundRect">
            <a:avLst/>
          </a:prstGeom>
          <a:solidFill>
            <a:srgbClr val="FFF2D2"/>
          </a:solidFill>
          <a:ln w="16510">
            <a:solidFill>
              <a:srgbClr val="F4B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800" b="1">
                <a:solidFill>
                  <a:srgbClr val="263142"/>
                </a:solidFill>
                <a:latin typeface="Aptos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560320"/>
            <a:ext cx="941832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637083"/>
                </a:solidFill>
                <a:latin typeface="Aptos"/>
              </a:rPr>
              <a:t>left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56232" y="1965960"/>
            <a:ext cx="868680" cy="56692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800" b="1">
                <a:solidFill>
                  <a:srgbClr val="263142"/>
                </a:solidFill>
                <a:latin typeface="Aptos"/>
              </a:rPr>
              <a:t>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98064" y="1965960"/>
            <a:ext cx="868680" cy="56692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800" b="1">
                <a:solidFill>
                  <a:srgbClr val="263142"/>
                </a:solidFill>
                <a:latin typeface="Aptos"/>
              </a:rPr>
              <a:t>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39896" y="1965960"/>
            <a:ext cx="868680" cy="56692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800" b="1">
                <a:solidFill>
                  <a:srgbClr val="263142"/>
                </a:solidFill>
                <a:latin typeface="Aptos"/>
              </a:rPr>
              <a:t>40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81728" y="1965960"/>
            <a:ext cx="868680" cy="566928"/>
          </a:xfrm>
          <a:prstGeom prst="roundRect">
            <a:avLst/>
          </a:prstGeom>
          <a:solidFill>
            <a:srgbClr val="FFF2D2"/>
          </a:solidFill>
          <a:ln w="16510">
            <a:solidFill>
              <a:srgbClr val="F4B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800" b="1">
                <a:solidFill>
                  <a:srgbClr val="263142"/>
                </a:solidFill>
                <a:latin typeface="Aptos"/>
              </a:rPr>
              <a:t>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560320"/>
            <a:ext cx="941832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637083"/>
                </a:solidFill>
                <a:latin typeface="Aptos"/>
              </a:rPr>
              <a:t>right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325880" y="2880360"/>
            <a:ext cx="3246120" cy="0"/>
          </a:xfrm>
          <a:prstGeom prst="line">
            <a:avLst/>
          </a:prstGeom>
          <a:ln w="25400">
            <a:solidFill>
              <a:srgbClr val="1C9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14400" y="3063240"/>
            <a:ext cx="44805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400" b="0">
                <a:solidFill>
                  <a:srgbClr val="637083"/>
                </a:solidFill>
                <a:latin typeface="Aptos"/>
              </a:rPr>
              <a:t>Swap ends, then left++ and right--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657600"/>
            <a:ext cx="868680" cy="566928"/>
          </a:xfrm>
          <a:prstGeom prst="roundRect">
            <a:avLst/>
          </a:prstGeom>
          <a:solidFill>
            <a:srgbClr val="DAF4EF"/>
          </a:solidFill>
          <a:ln w="16510">
            <a:solidFill>
              <a:srgbClr val="1C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800" b="1">
                <a:solidFill>
                  <a:srgbClr val="263142"/>
                </a:solidFill>
                <a:latin typeface="Aptos"/>
              </a:rPr>
              <a:t>50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56232" y="3657600"/>
            <a:ext cx="868680" cy="56692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800" b="1">
                <a:solidFill>
                  <a:srgbClr val="263142"/>
                </a:solidFill>
                <a:latin typeface="Aptos"/>
              </a:rPr>
              <a:t>20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98064" y="3657600"/>
            <a:ext cx="868680" cy="56692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800" b="1">
                <a:solidFill>
                  <a:srgbClr val="263142"/>
                </a:solidFill>
                <a:latin typeface="Aptos"/>
              </a:rPr>
              <a:t>30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39896" y="3657600"/>
            <a:ext cx="868680" cy="56692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800" b="1">
                <a:solidFill>
                  <a:srgbClr val="263142"/>
                </a:solidFill>
                <a:latin typeface="Aptos"/>
              </a:rPr>
              <a:t>40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81728" y="3657600"/>
            <a:ext cx="868680" cy="566928"/>
          </a:xfrm>
          <a:prstGeom prst="roundRect">
            <a:avLst/>
          </a:prstGeom>
          <a:solidFill>
            <a:srgbClr val="DAF4EF"/>
          </a:solidFill>
          <a:ln w="16510">
            <a:solidFill>
              <a:srgbClr val="1C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800" b="1">
                <a:solidFill>
                  <a:srgbClr val="263142"/>
                </a:solidFill>
                <a:latin typeface="Aptos"/>
              </a:rPr>
              <a:t>10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617720"/>
            <a:ext cx="868680" cy="566928"/>
          </a:xfrm>
          <a:prstGeom prst="roundRect">
            <a:avLst/>
          </a:prstGeom>
          <a:solidFill>
            <a:srgbClr val="E0EBFB"/>
          </a:solidFill>
          <a:ln w="16510">
            <a:solidFill>
              <a:srgbClr val="30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800" b="1">
                <a:solidFill>
                  <a:srgbClr val="263142"/>
                </a:solidFill>
                <a:latin typeface="Aptos"/>
              </a:rPr>
              <a:t>50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56232" y="4617720"/>
            <a:ext cx="868680" cy="566928"/>
          </a:xfrm>
          <a:prstGeom prst="roundRect">
            <a:avLst/>
          </a:prstGeom>
          <a:solidFill>
            <a:srgbClr val="E0EBFB"/>
          </a:solidFill>
          <a:ln w="16510">
            <a:solidFill>
              <a:srgbClr val="30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800" b="1">
                <a:solidFill>
                  <a:srgbClr val="263142"/>
                </a:solidFill>
                <a:latin typeface="Aptos"/>
              </a:rPr>
              <a:t>40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98064" y="4617720"/>
            <a:ext cx="868680" cy="56692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800" b="1">
                <a:solidFill>
                  <a:srgbClr val="263142"/>
                </a:solidFill>
                <a:latin typeface="Aptos"/>
              </a:rPr>
              <a:t>30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39896" y="4617720"/>
            <a:ext cx="868680" cy="566928"/>
          </a:xfrm>
          <a:prstGeom prst="roundRect">
            <a:avLst/>
          </a:prstGeom>
          <a:solidFill>
            <a:srgbClr val="E0EBFB"/>
          </a:solidFill>
          <a:ln w="16510">
            <a:solidFill>
              <a:srgbClr val="30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800" b="1">
                <a:solidFill>
                  <a:srgbClr val="263142"/>
                </a:solidFill>
                <a:latin typeface="Aptos"/>
              </a:rPr>
              <a:t>20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81728" y="4617720"/>
            <a:ext cx="868680" cy="566928"/>
          </a:xfrm>
          <a:prstGeom prst="roundRect">
            <a:avLst/>
          </a:prstGeom>
          <a:solidFill>
            <a:srgbClr val="E0EBFB"/>
          </a:solidFill>
          <a:ln w="16510">
            <a:solidFill>
              <a:srgbClr val="30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800" b="1">
                <a:solidFill>
                  <a:srgbClr val="263142"/>
                </a:solidFill>
                <a:latin typeface="Aptos"/>
              </a:rPr>
              <a:t>10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1828800"/>
            <a:ext cx="4572000" cy="914400"/>
          </a:xfrm>
          <a:prstGeom prst="roundRect">
            <a:avLst/>
          </a:prstGeom>
          <a:solidFill>
            <a:srgbClr val="E0EBFB"/>
          </a:solidFill>
          <a:ln w="16510">
            <a:solidFill>
              <a:srgbClr val="30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2200" b="1">
                <a:solidFill>
                  <a:srgbClr val="14223D"/>
                </a:solidFill>
                <a:latin typeface="Aptos"/>
              </a:rPr>
              <a:t>while (left &lt; right)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3063240"/>
            <a:ext cx="4480560" cy="1828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3142"/>
                </a:solidFill>
                <a:latin typeface="Aptos"/>
              </a:defRPr>
            </a:pPr>
            <a:r>
              <a:t>Swap a[left] and a[right].</a:t>
            </a:r>
          </a:p>
          <a:p>
            <a:pPr>
              <a:spcAft>
                <a:spcPts val="800"/>
              </a:spcAft>
              <a:defRPr sz="1700">
                <a:solidFill>
                  <a:srgbClr val="263142"/>
                </a:solidFill>
                <a:latin typeface="Aptos"/>
              </a:defRPr>
            </a:pPr>
            <a:r>
              <a:t>Increase left; decrease right.</a:t>
            </a:r>
          </a:p>
          <a:p>
            <a:pPr>
              <a:spcAft>
                <a:spcPts val="800"/>
              </a:spcAft>
              <a:defRPr sz="1700">
                <a:solidFill>
                  <a:srgbClr val="263142"/>
                </a:solidFill>
                <a:latin typeface="Aptos"/>
              </a:defRPr>
            </a:pPr>
            <a:r>
              <a:t>Each pair is handled once.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5257800"/>
            <a:ext cx="438912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1C9B91"/>
                </a:solidFill>
                <a:latin typeface="Aptos"/>
              </a:rPr>
              <a:t>Time O(n) • Extra space O(1)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3D"/>
                </a:solidFill>
                <a:latin typeface="Aptos"/>
              </a:rPr>
              <a:t>Two pointers: pair sum in a sorted array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9728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637083"/>
                </a:solidFill>
                <a:latin typeface="Aptos"/>
              </a:rPr>
              <a:t>Use the order of the array to decide which pointer moves.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292608"/>
            <a:ext cx="12344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1C9B91"/>
                </a:solidFill>
                <a:latin typeface="Aptos"/>
              </a:rPr>
              <a:t>TWO POINTERS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637083"/>
                </a:solidFill>
                <a:latin typeface="Aptos"/>
              </a:rPr>
              <a:t>C++ BOOTCAMP  •  VISUAL LEARNING  • 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6400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3D"/>
                </a:solidFill>
                <a:latin typeface="Aptos"/>
              </a:rPr>
              <a:t>Array: [1, 2, 4, 6, 8, 9]     Target =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011680"/>
            <a:ext cx="804672" cy="566928"/>
          </a:xfrm>
          <a:prstGeom prst="roundRect">
            <a:avLst/>
          </a:prstGeom>
          <a:solidFill>
            <a:srgbClr val="E0EBFB"/>
          </a:solidFill>
          <a:ln w="16510">
            <a:solidFill>
              <a:srgbClr val="30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900" b="1">
                <a:solidFill>
                  <a:srgbClr val="263142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606040"/>
            <a:ext cx="87782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637083"/>
                </a:solidFill>
                <a:latin typeface="Aptos"/>
              </a:rPr>
              <a:t>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92224" y="2011680"/>
            <a:ext cx="804672" cy="56692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900" b="1">
                <a:solidFill>
                  <a:srgbClr val="263142"/>
                </a:solidFill>
                <a:latin typeface="Aptos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70048" y="2011680"/>
            <a:ext cx="804672" cy="56692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900" b="1">
                <a:solidFill>
                  <a:srgbClr val="263142"/>
                </a:solidFill>
                <a:latin typeface="Aptos"/>
              </a:rP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47872" y="2011680"/>
            <a:ext cx="804672" cy="56692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900" b="1">
                <a:solidFill>
                  <a:srgbClr val="263142"/>
                </a:solidFill>
                <a:latin typeface="Aptos"/>
              </a:rPr>
              <a:t>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5696" y="2011680"/>
            <a:ext cx="804672" cy="56692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900" b="1">
                <a:solidFill>
                  <a:srgbClr val="263142"/>
                </a:solidFill>
                <a:latin typeface="Aptos"/>
              </a:rPr>
              <a:t>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2011680"/>
            <a:ext cx="804672" cy="566928"/>
          </a:xfrm>
          <a:prstGeom prst="roundRect">
            <a:avLst/>
          </a:prstGeom>
          <a:solidFill>
            <a:srgbClr val="E0EBFB"/>
          </a:solidFill>
          <a:ln w="16510">
            <a:solidFill>
              <a:srgbClr val="30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900" b="1">
                <a:solidFill>
                  <a:srgbClr val="263142"/>
                </a:solidFill>
                <a:latin typeface="Aptos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66944" y="2606040"/>
            <a:ext cx="877824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637083"/>
                </a:solidFill>
                <a:latin typeface="Aptos"/>
              </a:rPr>
              <a:t>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2971800"/>
            <a:ext cx="2971800" cy="731520"/>
          </a:xfrm>
          <a:prstGeom prst="roundRect">
            <a:avLst/>
          </a:prstGeom>
          <a:solidFill>
            <a:srgbClr val="DAF4EF"/>
          </a:solidFill>
          <a:ln w="16510">
            <a:solidFill>
              <a:srgbClr val="1C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2300" b="1">
                <a:solidFill>
                  <a:srgbClr val="329B64"/>
                </a:solidFill>
                <a:latin typeface="Aptos"/>
              </a:rPr>
              <a:t>1 + 9 =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3154680"/>
            <a:ext cx="292608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329B64"/>
                </a:solidFill>
                <a:latin typeface="Aptos"/>
              </a:rPr>
              <a:t>Target found!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1828800"/>
            <a:ext cx="3840480" cy="3017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3142"/>
                </a:solidFill>
                <a:latin typeface="Aptos"/>
              </a:defRPr>
            </a:pPr>
            <a:r>
              <a:t>If sum == target → done.</a:t>
            </a:r>
          </a:p>
          <a:p>
            <a:pPr>
              <a:spcAft>
                <a:spcPts val="800"/>
              </a:spcAft>
              <a:defRPr sz="1700">
                <a:solidFill>
                  <a:srgbClr val="263142"/>
                </a:solidFill>
                <a:latin typeface="Aptos"/>
              </a:defRPr>
            </a:pPr>
            <a:r>
              <a:t>If sum &lt; target → left++.</a:t>
            </a:r>
          </a:p>
          <a:p>
            <a:pPr>
              <a:spcAft>
                <a:spcPts val="800"/>
              </a:spcAft>
              <a:defRPr sz="1700">
                <a:solidFill>
                  <a:srgbClr val="263142"/>
                </a:solidFill>
                <a:latin typeface="Aptos"/>
              </a:defRPr>
            </a:pPr>
            <a:r>
              <a:t>If sum &gt; target → right--.</a:t>
            </a:r>
          </a:p>
          <a:p>
            <a:pPr>
              <a:spcAft>
                <a:spcPts val="800"/>
              </a:spcAft>
              <a:defRPr sz="1700">
                <a:solidFill>
                  <a:srgbClr val="263142"/>
                </a:solidFill>
                <a:latin typeface="Aptos"/>
              </a:defRPr>
            </a:pPr>
            <a:r>
              <a:t>Requires sorted order for this logic.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00600"/>
            <a:ext cx="621792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14223D"/>
                </a:solidFill>
                <a:latin typeface="Aptos"/>
              </a:rPr>
              <a:t>Naive pair checking can take O(n²).
Two pointers takes O(n).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3D"/>
                </a:solidFill>
                <a:latin typeface="Aptos"/>
              </a:rPr>
              <a:t>5. Selection sort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9728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637083"/>
                </a:solidFill>
                <a:latin typeface="Aptos"/>
              </a:rPr>
              <a:t>Find the minimum in the unsorted part and swap it into the next position.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292608"/>
            <a:ext cx="12344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1C9B91"/>
                </a:solidFill>
                <a:latin typeface="Aptos"/>
              </a:rPr>
              <a:t>SORTING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637083"/>
                </a:solidFill>
                <a:latin typeface="Aptos"/>
              </a:rPr>
              <a:t>C++ BOOTCAMP  •  VISUAL LEARNING  • 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49377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3D"/>
                </a:solidFill>
                <a:latin typeface="Aptos"/>
              </a:rPr>
              <a:t>Start: [5, 3, 4, 1, 2]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10972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14223D"/>
                </a:solidFill>
                <a:latin typeface="Aptos"/>
              </a:rPr>
              <a:t>Pass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1828800"/>
            <a:ext cx="640080" cy="502920"/>
          </a:xfrm>
          <a:prstGeom prst="roundRect">
            <a:avLst/>
          </a:prstGeom>
          <a:solidFill>
            <a:srgbClr val="DAF4EF"/>
          </a:solidFill>
          <a:ln w="16510">
            <a:solidFill>
              <a:srgbClr val="1C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88336" y="1828800"/>
            <a:ext cx="640080" cy="5029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2" y="1828800"/>
            <a:ext cx="640080" cy="5029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41648" y="1828800"/>
            <a:ext cx="640080" cy="5029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18304" y="1828800"/>
            <a:ext cx="640080" cy="5029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920240"/>
            <a:ext cx="43891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263142"/>
                </a:solidFill>
                <a:latin typeface="Aptos"/>
              </a:rPr>
              <a:t>Minimum = 1; swap with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743200"/>
            <a:ext cx="10972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14223D"/>
                </a:solidFill>
                <a:latin typeface="Aptos"/>
              </a:rPr>
              <a:t>Pass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1680" y="2651760"/>
            <a:ext cx="640080" cy="502920"/>
          </a:xfrm>
          <a:prstGeom prst="roundRect">
            <a:avLst/>
          </a:prstGeom>
          <a:solidFill>
            <a:srgbClr val="DAF4EF"/>
          </a:solidFill>
          <a:ln w="16510">
            <a:solidFill>
              <a:srgbClr val="1C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88336" y="2651760"/>
            <a:ext cx="640080" cy="502920"/>
          </a:xfrm>
          <a:prstGeom prst="roundRect">
            <a:avLst/>
          </a:prstGeom>
          <a:solidFill>
            <a:srgbClr val="DAF4EF"/>
          </a:solidFill>
          <a:ln w="16510">
            <a:solidFill>
              <a:srgbClr val="1C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64992" y="2651760"/>
            <a:ext cx="640080" cy="5029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41648" y="2651760"/>
            <a:ext cx="640080" cy="5029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18304" y="2651760"/>
            <a:ext cx="640080" cy="5029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743200"/>
            <a:ext cx="43891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263142"/>
                </a:solidFill>
                <a:latin typeface="Aptos"/>
              </a:rPr>
              <a:t>Minimum remaining =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566160"/>
            <a:ext cx="10972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14223D"/>
                </a:solidFill>
                <a:latin typeface="Aptos"/>
              </a:rPr>
              <a:t>Pass 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11680" y="3474720"/>
            <a:ext cx="640080" cy="502920"/>
          </a:xfrm>
          <a:prstGeom prst="roundRect">
            <a:avLst/>
          </a:prstGeom>
          <a:solidFill>
            <a:srgbClr val="DAF4EF"/>
          </a:solidFill>
          <a:ln w="16510">
            <a:solidFill>
              <a:srgbClr val="1C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88336" y="3474720"/>
            <a:ext cx="640080" cy="502920"/>
          </a:xfrm>
          <a:prstGeom prst="roundRect">
            <a:avLst/>
          </a:prstGeom>
          <a:solidFill>
            <a:srgbClr val="DAF4EF"/>
          </a:solidFill>
          <a:ln w="16510">
            <a:solidFill>
              <a:srgbClr val="1C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64992" y="3474720"/>
            <a:ext cx="640080" cy="502920"/>
          </a:xfrm>
          <a:prstGeom prst="roundRect">
            <a:avLst/>
          </a:prstGeom>
          <a:solidFill>
            <a:srgbClr val="DAF4EF"/>
          </a:solidFill>
          <a:ln w="16510">
            <a:solidFill>
              <a:srgbClr val="1C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41648" y="3474720"/>
            <a:ext cx="640080" cy="5029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18304" y="3474720"/>
            <a:ext cx="640080" cy="5029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3566160"/>
            <a:ext cx="43891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263142"/>
                </a:solidFill>
                <a:latin typeface="Aptos"/>
              </a:rPr>
              <a:t>Minimum remaining =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389120"/>
            <a:ext cx="10972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14223D"/>
                </a:solidFill>
                <a:latin typeface="Aptos"/>
              </a:rPr>
              <a:t>Pass 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011680" y="4297680"/>
            <a:ext cx="640080" cy="502920"/>
          </a:xfrm>
          <a:prstGeom prst="roundRect">
            <a:avLst/>
          </a:prstGeom>
          <a:solidFill>
            <a:srgbClr val="DAF4EF"/>
          </a:solidFill>
          <a:ln w="16510">
            <a:solidFill>
              <a:srgbClr val="1C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88336" y="4297680"/>
            <a:ext cx="640080" cy="502920"/>
          </a:xfrm>
          <a:prstGeom prst="roundRect">
            <a:avLst/>
          </a:prstGeom>
          <a:solidFill>
            <a:srgbClr val="DAF4EF"/>
          </a:solidFill>
          <a:ln w="16510">
            <a:solidFill>
              <a:srgbClr val="1C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64992" y="4297680"/>
            <a:ext cx="640080" cy="502920"/>
          </a:xfrm>
          <a:prstGeom prst="roundRect">
            <a:avLst/>
          </a:prstGeom>
          <a:solidFill>
            <a:srgbClr val="DAF4EF"/>
          </a:solidFill>
          <a:ln w="16510">
            <a:solidFill>
              <a:srgbClr val="1C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041648" y="4297680"/>
            <a:ext cx="640080" cy="502920"/>
          </a:xfrm>
          <a:prstGeom prst="roundRect">
            <a:avLst/>
          </a:prstGeom>
          <a:solidFill>
            <a:srgbClr val="DAF4EF"/>
          </a:solidFill>
          <a:ln w="16510">
            <a:solidFill>
              <a:srgbClr val="1C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18304" y="4297680"/>
            <a:ext cx="640080" cy="5029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4389120"/>
            <a:ext cx="43891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263142"/>
                </a:solidFill>
                <a:latin typeface="Aptos"/>
              </a:rPr>
              <a:t>Minimum remaining = 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486400"/>
            <a:ext cx="1060704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3068BE"/>
                </a:solidFill>
                <a:latin typeface="Aptos"/>
              </a:rPr>
              <a:t>Time: O(n²) in all cases   •   Extra space: O(1)   •   Usually not stable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3D"/>
                </a:solidFill>
                <a:latin typeface="Aptos"/>
              </a:rPr>
              <a:t>6. Insertion sort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9728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637083"/>
                </a:solidFill>
                <a:latin typeface="Aptos"/>
              </a:rPr>
              <a:t>Grow a sorted prefix by inserting each new key into its correct place.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292608"/>
            <a:ext cx="12344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1C9B91"/>
                </a:solidFill>
                <a:latin typeface="Aptos"/>
              </a:rPr>
              <a:t>SORTING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637083"/>
                </a:solidFill>
                <a:latin typeface="Aptos"/>
              </a:rPr>
              <a:t>C++ BOOTCAMP  •  VISUAL LEARNING  •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49377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3D"/>
                </a:solidFill>
                <a:latin typeface="Aptos"/>
              </a:rPr>
              <a:t>Start: [5, 3, 4, 1, 2]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11430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14223D"/>
                </a:solidFill>
                <a:latin typeface="Aptos"/>
              </a:rPr>
              <a:t>Insert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03120" y="1828800"/>
            <a:ext cx="640080" cy="502920"/>
          </a:xfrm>
          <a:prstGeom prst="roundRect">
            <a:avLst/>
          </a:prstGeom>
          <a:solidFill>
            <a:srgbClr val="DAF4EF"/>
          </a:solidFill>
          <a:ln w="16510">
            <a:solidFill>
              <a:srgbClr val="1C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79776" y="1828800"/>
            <a:ext cx="640080" cy="502920"/>
          </a:xfrm>
          <a:prstGeom prst="roundRect">
            <a:avLst/>
          </a:prstGeom>
          <a:solidFill>
            <a:srgbClr val="DAF4EF"/>
          </a:solidFill>
          <a:ln w="16510">
            <a:solidFill>
              <a:srgbClr val="1C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1828800"/>
            <a:ext cx="640080" cy="5029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33087" y="1828800"/>
            <a:ext cx="640080" cy="5029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9744" y="1828800"/>
            <a:ext cx="640080" cy="5029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920240"/>
            <a:ext cx="43891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263142"/>
                </a:solidFill>
                <a:latin typeface="Aptos"/>
              </a:rPr>
              <a:t>Shift 5 right; place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743200"/>
            <a:ext cx="11430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14223D"/>
                </a:solidFill>
                <a:latin typeface="Aptos"/>
              </a:rPr>
              <a:t>Insert 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03120" y="2651760"/>
            <a:ext cx="640080" cy="502920"/>
          </a:xfrm>
          <a:prstGeom prst="roundRect">
            <a:avLst/>
          </a:prstGeom>
          <a:solidFill>
            <a:srgbClr val="DAF4EF"/>
          </a:solidFill>
          <a:ln w="16510">
            <a:solidFill>
              <a:srgbClr val="1C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79776" y="2651760"/>
            <a:ext cx="640080" cy="502920"/>
          </a:xfrm>
          <a:prstGeom prst="roundRect">
            <a:avLst/>
          </a:prstGeom>
          <a:solidFill>
            <a:srgbClr val="DAF4EF"/>
          </a:solidFill>
          <a:ln w="16510">
            <a:solidFill>
              <a:srgbClr val="1C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56432" y="2651760"/>
            <a:ext cx="640080" cy="502920"/>
          </a:xfrm>
          <a:prstGeom prst="roundRect">
            <a:avLst/>
          </a:prstGeom>
          <a:solidFill>
            <a:srgbClr val="DAF4EF"/>
          </a:solidFill>
          <a:ln w="16510">
            <a:solidFill>
              <a:srgbClr val="1C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33087" y="2651760"/>
            <a:ext cx="640080" cy="5029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09744" y="2651760"/>
            <a:ext cx="640080" cy="5029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743200"/>
            <a:ext cx="43891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263142"/>
                </a:solidFill>
                <a:latin typeface="Aptos"/>
              </a:rPr>
              <a:t>Shift 5 right; place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566160"/>
            <a:ext cx="11430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14223D"/>
                </a:solidFill>
                <a:latin typeface="Aptos"/>
              </a:rPr>
              <a:t>Insert 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03120" y="3474720"/>
            <a:ext cx="640080" cy="502920"/>
          </a:xfrm>
          <a:prstGeom prst="roundRect">
            <a:avLst/>
          </a:prstGeom>
          <a:solidFill>
            <a:srgbClr val="DAF4EF"/>
          </a:solidFill>
          <a:ln w="16510">
            <a:solidFill>
              <a:srgbClr val="1C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79776" y="3474720"/>
            <a:ext cx="640080" cy="502920"/>
          </a:xfrm>
          <a:prstGeom prst="roundRect">
            <a:avLst/>
          </a:prstGeom>
          <a:solidFill>
            <a:srgbClr val="DAF4EF"/>
          </a:solidFill>
          <a:ln w="16510">
            <a:solidFill>
              <a:srgbClr val="1C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56432" y="3474720"/>
            <a:ext cx="640080" cy="502920"/>
          </a:xfrm>
          <a:prstGeom prst="roundRect">
            <a:avLst/>
          </a:prstGeom>
          <a:solidFill>
            <a:srgbClr val="DAF4EF"/>
          </a:solidFill>
          <a:ln w="16510">
            <a:solidFill>
              <a:srgbClr val="1C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33087" y="3474720"/>
            <a:ext cx="640080" cy="502920"/>
          </a:xfrm>
          <a:prstGeom prst="roundRect">
            <a:avLst/>
          </a:prstGeom>
          <a:solidFill>
            <a:srgbClr val="DAF4EF"/>
          </a:solidFill>
          <a:ln w="16510">
            <a:solidFill>
              <a:srgbClr val="1C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09744" y="3474720"/>
            <a:ext cx="640080" cy="5029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3566160"/>
            <a:ext cx="43891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263142"/>
                </a:solidFill>
                <a:latin typeface="Aptos"/>
              </a:rPr>
              <a:t>Shift larger values right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389120"/>
            <a:ext cx="11430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14223D"/>
                </a:solidFill>
                <a:latin typeface="Aptos"/>
              </a:rPr>
              <a:t>Insert 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103120" y="4297680"/>
            <a:ext cx="640080" cy="502920"/>
          </a:xfrm>
          <a:prstGeom prst="roundRect">
            <a:avLst/>
          </a:prstGeom>
          <a:solidFill>
            <a:srgbClr val="DAF4EF"/>
          </a:solidFill>
          <a:ln w="16510">
            <a:solidFill>
              <a:srgbClr val="1C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79776" y="4297680"/>
            <a:ext cx="640080" cy="502920"/>
          </a:xfrm>
          <a:prstGeom prst="roundRect">
            <a:avLst/>
          </a:prstGeom>
          <a:solidFill>
            <a:srgbClr val="DAF4EF"/>
          </a:solidFill>
          <a:ln w="16510">
            <a:solidFill>
              <a:srgbClr val="1C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56432" y="4297680"/>
            <a:ext cx="640080" cy="502920"/>
          </a:xfrm>
          <a:prstGeom prst="roundRect">
            <a:avLst/>
          </a:prstGeom>
          <a:solidFill>
            <a:srgbClr val="DAF4EF"/>
          </a:solidFill>
          <a:ln w="16510">
            <a:solidFill>
              <a:srgbClr val="1C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33087" y="4297680"/>
            <a:ext cx="640080" cy="502920"/>
          </a:xfrm>
          <a:prstGeom prst="roundRect">
            <a:avLst/>
          </a:prstGeom>
          <a:solidFill>
            <a:srgbClr val="DAF4EF"/>
          </a:solidFill>
          <a:ln w="16510">
            <a:solidFill>
              <a:srgbClr val="1C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09744" y="4297680"/>
            <a:ext cx="640080" cy="502920"/>
          </a:xfrm>
          <a:prstGeom prst="roundRect">
            <a:avLst/>
          </a:prstGeom>
          <a:solidFill>
            <a:srgbClr val="DAF4EF"/>
          </a:solidFill>
          <a:ln w="16510">
            <a:solidFill>
              <a:srgbClr val="1C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4389120"/>
            <a:ext cx="43891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263142"/>
                </a:solidFill>
                <a:latin typeface="Aptos"/>
              </a:rPr>
              <a:t>Place 2 in the gap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486400"/>
            <a:ext cx="1060704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3068BE"/>
                </a:solidFill>
                <a:latin typeface="Aptos"/>
              </a:rPr>
              <a:t>Best: O(n) when already sorted   •   Worst: O(n²)   •   Stable and in-place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3D"/>
                </a:solidFill>
                <a:latin typeface="Aptos"/>
              </a:rPr>
              <a:t>7. Quick sort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9728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637083"/>
                </a:solidFill>
                <a:latin typeface="Aptos"/>
              </a:rPr>
              <a:t>Choose a pivot, partition around it, then recursively sort each side.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292608"/>
            <a:ext cx="12344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1C9B91"/>
                </a:solidFill>
                <a:latin typeface="Aptos"/>
              </a:rPr>
              <a:t>SORTING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637083"/>
                </a:solidFill>
                <a:latin typeface="Aptos"/>
              </a:rPr>
              <a:t>C++ BOOTCAMP  •  VISUAL LEARNING  •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45720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3D"/>
                </a:solidFill>
                <a:latin typeface="Aptos"/>
              </a:rPr>
              <a:t>Example: [5, 2, 8, 1, 6, 3, 7]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965960"/>
            <a:ext cx="2011680" cy="822960"/>
          </a:xfrm>
          <a:prstGeom prst="roundRect">
            <a:avLst/>
          </a:prstGeom>
          <a:solidFill>
            <a:srgbClr val="E0EBFB"/>
          </a:solidFill>
          <a:ln w="16510">
            <a:solidFill>
              <a:srgbClr val="30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700" b="1">
                <a:solidFill>
                  <a:srgbClr val="14223D"/>
                </a:solidFill>
                <a:latin typeface="Aptos"/>
              </a:rPr>
              <a:t>Smaller than 5
[2, 1, 3]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965960"/>
            <a:ext cx="1188720" cy="822960"/>
          </a:xfrm>
          <a:prstGeom prst="roundRect">
            <a:avLst/>
          </a:prstGeom>
          <a:solidFill>
            <a:srgbClr val="FFF2D2"/>
          </a:solidFill>
          <a:ln w="16510">
            <a:solidFill>
              <a:srgbClr val="F4B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900" b="1">
                <a:solidFill>
                  <a:srgbClr val="14223D"/>
                </a:solidFill>
                <a:latin typeface="Aptos"/>
              </a:rPr>
              <a:t>Pivot
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1965960"/>
            <a:ext cx="2011680" cy="822960"/>
          </a:xfrm>
          <a:prstGeom prst="roundRect">
            <a:avLst/>
          </a:prstGeom>
          <a:solidFill>
            <a:srgbClr val="DAF4EF"/>
          </a:solidFill>
          <a:ln w="16510">
            <a:solidFill>
              <a:srgbClr val="1C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700" b="1">
                <a:solidFill>
                  <a:srgbClr val="14223D"/>
                </a:solidFill>
                <a:latin typeface="Aptos"/>
              </a:rPr>
              <a:t>Greater than 5
[8, 6, 7]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74519" y="2971800"/>
            <a:ext cx="0" cy="457200"/>
          </a:xfrm>
          <a:prstGeom prst="line">
            <a:avLst/>
          </a:prstGeom>
          <a:ln w="21590">
            <a:solidFill>
              <a:srgbClr val="3068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94760" y="2971800"/>
            <a:ext cx="0" cy="457200"/>
          </a:xfrm>
          <a:prstGeom prst="line">
            <a:avLst/>
          </a:prstGeom>
          <a:ln w="21590">
            <a:solidFill>
              <a:srgbClr val="F4B4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669280" y="2971800"/>
            <a:ext cx="0" cy="457200"/>
          </a:xfrm>
          <a:prstGeom prst="line">
            <a:avLst/>
          </a:prstGeom>
          <a:ln w="21590">
            <a:solidFill>
              <a:srgbClr val="1C9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68680" y="3474720"/>
            <a:ext cx="2011680" cy="6400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Sort left side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3474720"/>
            <a:ext cx="1188720" cy="6400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FFF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500" b="1">
                <a:solidFill>
                  <a:srgbClr val="263142"/>
                </a:solidFill>
                <a:latin typeface="Aptos"/>
              </a:rPr>
              <a:t>Pivot fixed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3474720"/>
            <a:ext cx="2011680" cy="6400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DA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Sort right side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1828800"/>
            <a:ext cx="3931920" cy="10972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2000" b="1">
                <a:solidFill>
                  <a:srgbClr val="14223D"/>
                </a:solidFill>
                <a:latin typeface="Aptos"/>
              </a:rPr>
              <a:t>Average: O(n log n)
Worst: O(n²)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3337560"/>
            <a:ext cx="3657600" cy="1554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63142"/>
                </a:solidFill>
                <a:latin typeface="Aptos"/>
              </a:defRPr>
            </a:pPr>
            <a:r>
              <a:t>Partition puts pivot in final position.</a:t>
            </a:r>
          </a:p>
          <a:p>
            <a:pPr>
              <a:spcAft>
                <a:spcPts val="800"/>
              </a:spcAft>
              <a:defRPr sz="1500">
                <a:solidFill>
                  <a:srgbClr val="263142"/>
                </a:solidFill>
                <a:latin typeface="Aptos"/>
              </a:defRPr>
            </a:pPr>
            <a:r>
              <a:t>Recursive calls exclude the pivot.</a:t>
            </a:r>
          </a:p>
          <a:p>
            <a:pPr>
              <a:spcAft>
                <a:spcPts val="800"/>
              </a:spcAft>
              <a:defRPr sz="1500">
                <a:solidFill>
                  <a:srgbClr val="263142"/>
                </a:solidFill>
                <a:latin typeface="Aptos"/>
              </a:defRPr>
            </a:pPr>
            <a:r>
              <a:t>Pivot choice affects performance.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92040"/>
            <a:ext cx="101498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1C9B91"/>
                </a:solidFill>
                <a:latin typeface="Aptos"/>
              </a:rPr>
              <a:t>Base case: when low &gt;= high, the range has 0 or 1 element and is already sorted.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3D"/>
                </a:solidFill>
                <a:latin typeface="Aptos"/>
              </a:rPr>
              <a:t>8. Merge sort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9728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637083"/>
                </a:solidFill>
                <a:latin typeface="Aptos"/>
              </a:rPr>
              <a:t>Divide the array until single elements remain, then merge sorted parts.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292608"/>
            <a:ext cx="12344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1C9B91"/>
                </a:solidFill>
                <a:latin typeface="Aptos"/>
              </a:rPr>
              <a:t>SORTING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637083"/>
                </a:solidFill>
                <a:latin typeface="Aptos"/>
              </a:rPr>
              <a:t>C++ BOOTCAMP  •  VISUAL LEARNING  • 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417320"/>
            <a:ext cx="2468880" cy="566928"/>
          </a:xfrm>
          <a:prstGeom prst="roundRect">
            <a:avLst/>
          </a:prstGeom>
          <a:solidFill>
            <a:srgbClr val="E0EBFB"/>
          </a:solidFill>
          <a:ln w="16510">
            <a:solidFill>
              <a:srgbClr val="30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800" b="1">
                <a:solidFill>
                  <a:srgbClr val="14223D"/>
                </a:solidFill>
                <a:latin typeface="Aptos"/>
              </a:rPr>
              <a:t>[5, 2, 8, 1]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3200400" y="2011680"/>
            <a:ext cx="2057400" cy="548640"/>
          </a:xfrm>
          <a:prstGeom prst="line">
            <a:avLst/>
          </a:prstGeom>
          <a:ln w="22860">
            <a:solidFill>
              <a:srgbClr val="3068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720840" y="2011680"/>
            <a:ext cx="2011680" cy="548640"/>
          </a:xfrm>
          <a:prstGeom prst="line">
            <a:avLst/>
          </a:prstGeom>
          <a:ln w="22860">
            <a:solidFill>
              <a:srgbClr val="3068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645920" y="2606040"/>
            <a:ext cx="2926080" cy="56692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700" b="1">
                <a:solidFill>
                  <a:srgbClr val="263142"/>
                </a:solidFill>
                <a:latin typeface="Aptos"/>
              </a:rPr>
              <a:t>[5, 2]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606040"/>
            <a:ext cx="2926080" cy="56692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700" b="1">
                <a:solidFill>
                  <a:srgbClr val="263142"/>
                </a:solidFill>
                <a:latin typeface="Aptos"/>
              </a:rPr>
              <a:t>[8, 1]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1645920" y="3200400"/>
            <a:ext cx="594360" cy="457200"/>
          </a:xfrm>
          <a:prstGeom prst="line">
            <a:avLst/>
          </a:prstGeom>
          <a:ln w="19050">
            <a:solidFill>
              <a:srgbClr val="1C9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931920" y="3200400"/>
            <a:ext cx="457200" cy="457200"/>
          </a:xfrm>
          <a:prstGeom prst="line">
            <a:avLst/>
          </a:prstGeom>
          <a:ln w="19050">
            <a:solidFill>
              <a:srgbClr val="1C9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7315200" y="3200400"/>
            <a:ext cx="640079" cy="457200"/>
          </a:xfrm>
          <a:prstGeom prst="line">
            <a:avLst/>
          </a:prstGeom>
          <a:ln w="19050">
            <a:solidFill>
              <a:srgbClr val="1C9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601200" y="3200400"/>
            <a:ext cx="548640" cy="457200"/>
          </a:xfrm>
          <a:prstGeom prst="line">
            <a:avLst/>
          </a:prstGeom>
          <a:ln w="19050">
            <a:solidFill>
              <a:srgbClr val="1C9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" y="3703320"/>
            <a:ext cx="1645920" cy="502920"/>
          </a:xfrm>
          <a:prstGeom prst="roundRect">
            <a:avLst/>
          </a:prstGeom>
          <a:solidFill>
            <a:srgbClr val="FFF2D2"/>
          </a:solidFill>
          <a:ln w="16510">
            <a:solidFill>
              <a:srgbClr val="F4B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500" b="1">
                <a:solidFill>
                  <a:srgbClr val="263142"/>
                </a:solidFill>
                <a:latin typeface="Aptos"/>
              </a:rPr>
              <a:t>[5] [2]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7560" y="3703320"/>
            <a:ext cx="1645920" cy="502920"/>
          </a:xfrm>
          <a:prstGeom prst="roundRect">
            <a:avLst/>
          </a:prstGeom>
          <a:solidFill>
            <a:srgbClr val="FFF2D2"/>
          </a:solidFill>
          <a:ln w="16510">
            <a:solidFill>
              <a:srgbClr val="F4B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500" b="1">
                <a:solidFill>
                  <a:srgbClr val="263142"/>
                </a:solidFill>
                <a:latin typeface="Aptos"/>
              </a:rPr>
              <a:t>[8] [1]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63040" y="4572000"/>
            <a:ext cx="2926080" cy="566928"/>
          </a:xfrm>
          <a:prstGeom prst="roundRect">
            <a:avLst/>
          </a:prstGeom>
          <a:solidFill>
            <a:srgbClr val="DAF4EF"/>
          </a:solidFill>
          <a:ln w="16510">
            <a:solidFill>
              <a:srgbClr val="1C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700" b="1">
                <a:solidFill>
                  <a:srgbClr val="263142"/>
                </a:solidFill>
                <a:latin typeface="Aptos"/>
              </a:rPr>
              <a:t>Merge → [2, 5]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4572000"/>
            <a:ext cx="2926080" cy="566928"/>
          </a:xfrm>
          <a:prstGeom prst="roundRect">
            <a:avLst/>
          </a:prstGeom>
          <a:solidFill>
            <a:srgbClr val="DAF4EF"/>
          </a:solidFill>
          <a:ln w="16510">
            <a:solidFill>
              <a:srgbClr val="1C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700" b="1">
                <a:solidFill>
                  <a:srgbClr val="263142"/>
                </a:solidFill>
                <a:latin typeface="Aptos"/>
              </a:rPr>
              <a:t>Merge → [1, 8]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468880" y="4251960"/>
            <a:ext cx="274320" cy="274320"/>
          </a:xfrm>
          <a:prstGeom prst="line">
            <a:avLst/>
          </a:prstGeom>
          <a:ln w="19050">
            <a:solidFill>
              <a:srgbClr val="1C9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778240" y="4251960"/>
            <a:ext cx="0" cy="274320"/>
          </a:xfrm>
          <a:prstGeom prst="line">
            <a:avLst/>
          </a:prstGeom>
          <a:ln w="19050">
            <a:solidFill>
              <a:srgbClr val="1C9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72000" y="4663440"/>
            <a:ext cx="23774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4223D"/>
                </a:solidFill>
                <a:latin typeface="Aptos"/>
              </a:rPr>
              <a:t>Then merge both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257800"/>
            <a:ext cx="23774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329B64"/>
                </a:solidFill>
                <a:latin typeface="Aptos"/>
              </a:rPr>
              <a:t>[1, 2, 5, 8]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897880"/>
            <a:ext cx="103327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400" b="1">
                <a:solidFill>
                  <a:srgbClr val="3068BE"/>
                </a:solidFill>
                <a:latin typeface="Aptos"/>
              </a:rPr>
              <a:t>Time: O(n log n) in all cases   •   Extra space: O(n)   •   Stable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3D"/>
                </a:solidFill>
                <a:latin typeface="Aptos"/>
              </a:rPr>
              <a:t>Which sorting algorithm should I remember?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9728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637083"/>
                </a:solidFill>
                <a:latin typeface="Aptos"/>
              </a:rPr>
              <a:t>Compare the main trade-offs—not just the names.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637083"/>
                </a:solidFill>
                <a:latin typeface="Aptos"/>
              </a:rPr>
              <a:t>C++ BOOTCAMP  •  VISUAL LEARNING  • 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1755648" cy="594360"/>
          </a:xfrm>
          <a:prstGeom prst="roundRect">
            <a:avLst/>
          </a:prstGeom>
          <a:solidFill>
            <a:srgbClr val="14223D"/>
          </a:solidFill>
          <a:ln w="16510">
            <a:solidFill>
              <a:srgbClr val="14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Algorithm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1600200"/>
            <a:ext cx="3813048" cy="594360"/>
          </a:xfrm>
          <a:prstGeom prst="roundRect">
            <a:avLst/>
          </a:prstGeom>
          <a:solidFill>
            <a:srgbClr val="14223D"/>
          </a:solidFill>
          <a:ln w="16510">
            <a:solidFill>
              <a:srgbClr val="14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Core idea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00200"/>
            <a:ext cx="1527048" cy="594360"/>
          </a:xfrm>
          <a:prstGeom prst="roundRect">
            <a:avLst/>
          </a:prstGeom>
          <a:solidFill>
            <a:srgbClr val="14223D"/>
          </a:solidFill>
          <a:ln w="16510">
            <a:solidFill>
              <a:srgbClr val="14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Best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9560" y="1600200"/>
            <a:ext cx="1527048" cy="594360"/>
          </a:xfrm>
          <a:prstGeom prst="roundRect">
            <a:avLst/>
          </a:prstGeom>
          <a:solidFill>
            <a:srgbClr val="14223D"/>
          </a:solidFill>
          <a:ln w="16510">
            <a:solidFill>
              <a:srgbClr val="14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Worst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760" y="1600200"/>
            <a:ext cx="1755648" cy="594360"/>
          </a:xfrm>
          <a:prstGeom prst="roundRect">
            <a:avLst/>
          </a:prstGeom>
          <a:solidFill>
            <a:srgbClr val="14223D"/>
          </a:solidFill>
          <a:ln w="16510">
            <a:solidFill>
              <a:srgbClr val="14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Extra space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350008"/>
            <a:ext cx="1755648" cy="62179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300" b="1">
                <a:solidFill>
                  <a:srgbClr val="263142"/>
                </a:solidFill>
                <a:latin typeface="Aptos"/>
              </a:rPr>
              <a:t>Selection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23160" y="2350008"/>
            <a:ext cx="3813048" cy="62179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300" b="0">
                <a:solidFill>
                  <a:srgbClr val="263142"/>
                </a:solidFill>
                <a:latin typeface="Aptos"/>
              </a:rPr>
              <a:t>Select minimum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350008"/>
            <a:ext cx="1527048" cy="62179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300" b="0">
                <a:solidFill>
                  <a:srgbClr val="263142"/>
                </a:solidFill>
                <a:latin typeface="Aptos"/>
              </a:rPr>
              <a:t>O(n²)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2350008"/>
            <a:ext cx="1527048" cy="62179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300" b="0">
                <a:solidFill>
                  <a:srgbClr val="263142"/>
                </a:solidFill>
                <a:latin typeface="Aptos"/>
              </a:rPr>
              <a:t>O(n²)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0" y="2350008"/>
            <a:ext cx="1755648" cy="62179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300" b="0">
                <a:solidFill>
                  <a:srgbClr val="263142"/>
                </a:solidFill>
                <a:latin typeface="Aptos"/>
              </a:rPr>
              <a:t>O(1)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172968"/>
            <a:ext cx="1755648" cy="621792"/>
          </a:xfrm>
          <a:prstGeom prst="roundRect">
            <a:avLst/>
          </a:prstGeom>
          <a:solidFill>
            <a:srgbClr val="EBF0F7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300" b="1">
                <a:solidFill>
                  <a:srgbClr val="263142"/>
                </a:solidFill>
                <a:latin typeface="Aptos"/>
              </a:rPr>
              <a:t>Insertion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3172968"/>
            <a:ext cx="3813048" cy="621792"/>
          </a:xfrm>
          <a:prstGeom prst="roundRect">
            <a:avLst/>
          </a:prstGeom>
          <a:solidFill>
            <a:srgbClr val="EBF0F7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300" b="0">
                <a:solidFill>
                  <a:srgbClr val="263142"/>
                </a:solidFill>
                <a:latin typeface="Aptos"/>
              </a:rPr>
              <a:t>Insert key into sorted prefix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172968"/>
            <a:ext cx="1527048" cy="621792"/>
          </a:xfrm>
          <a:prstGeom prst="roundRect">
            <a:avLst/>
          </a:prstGeom>
          <a:solidFill>
            <a:srgbClr val="EBF0F7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300" b="0">
                <a:solidFill>
                  <a:srgbClr val="263142"/>
                </a:solidFill>
                <a:latin typeface="Aptos"/>
              </a:rPr>
              <a:t>O(n)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09560" y="3172968"/>
            <a:ext cx="1527048" cy="621792"/>
          </a:xfrm>
          <a:prstGeom prst="roundRect">
            <a:avLst/>
          </a:prstGeom>
          <a:solidFill>
            <a:srgbClr val="EBF0F7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300" b="0">
                <a:solidFill>
                  <a:srgbClr val="263142"/>
                </a:solidFill>
                <a:latin typeface="Aptos"/>
              </a:rPr>
              <a:t>O(n²)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09760" y="3172968"/>
            <a:ext cx="1755648" cy="621792"/>
          </a:xfrm>
          <a:prstGeom prst="roundRect">
            <a:avLst/>
          </a:prstGeom>
          <a:solidFill>
            <a:srgbClr val="EBF0F7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300" b="0">
                <a:solidFill>
                  <a:srgbClr val="263142"/>
                </a:solidFill>
                <a:latin typeface="Aptos"/>
              </a:rPr>
              <a:t>O(1)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995928"/>
            <a:ext cx="1755648" cy="62179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300" b="1">
                <a:solidFill>
                  <a:srgbClr val="263142"/>
                </a:solidFill>
                <a:latin typeface="Aptos"/>
              </a:rPr>
              <a:t>Quick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23160" y="3995928"/>
            <a:ext cx="3813048" cy="62179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300" b="0">
                <a:solidFill>
                  <a:srgbClr val="263142"/>
                </a:solidFill>
                <a:latin typeface="Aptos"/>
              </a:rPr>
              <a:t>Partition around pivot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995928"/>
            <a:ext cx="1527048" cy="62179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300" b="0">
                <a:solidFill>
                  <a:srgbClr val="263142"/>
                </a:solidFill>
                <a:latin typeface="Aptos"/>
              </a:rPr>
              <a:t>O(n log n)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09560" y="3995928"/>
            <a:ext cx="1527048" cy="62179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300" b="0">
                <a:solidFill>
                  <a:srgbClr val="263142"/>
                </a:solidFill>
                <a:latin typeface="Aptos"/>
              </a:rPr>
              <a:t>O(n²)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60" y="3995928"/>
            <a:ext cx="1755648" cy="62179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300" b="0">
                <a:solidFill>
                  <a:srgbClr val="263142"/>
                </a:solidFill>
                <a:latin typeface="Aptos"/>
              </a:rPr>
              <a:t>O(log n) avg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4818888"/>
            <a:ext cx="1755648" cy="621792"/>
          </a:xfrm>
          <a:prstGeom prst="roundRect">
            <a:avLst/>
          </a:prstGeom>
          <a:solidFill>
            <a:srgbClr val="EBF0F7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300" b="1">
                <a:solidFill>
                  <a:srgbClr val="263142"/>
                </a:solidFill>
                <a:latin typeface="Aptos"/>
              </a:rPr>
              <a:t>Merge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423160" y="4818888"/>
            <a:ext cx="3813048" cy="621792"/>
          </a:xfrm>
          <a:prstGeom prst="roundRect">
            <a:avLst/>
          </a:prstGeom>
          <a:solidFill>
            <a:srgbClr val="EBF0F7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300" b="0">
                <a:solidFill>
                  <a:srgbClr val="263142"/>
                </a:solidFill>
                <a:latin typeface="Aptos"/>
              </a:rPr>
              <a:t>Divide, then merge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4818888"/>
            <a:ext cx="1527048" cy="621792"/>
          </a:xfrm>
          <a:prstGeom prst="roundRect">
            <a:avLst/>
          </a:prstGeom>
          <a:solidFill>
            <a:srgbClr val="EBF0F7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300" b="0">
                <a:solidFill>
                  <a:srgbClr val="263142"/>
                </a:solidFill>
                <a:latin typeface="Aptos"/>
              </a:rPr>
              <a:t>O(n log n)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09560" y="4818888"/>
            <a:ext cx="1527048" cy="621792"/>
          </a:xfrm>
          <a:prstGeom prst="roundRect">
            <a:avLst/>
          </a:prstGeom>
          <a:solidFill>
            <a:srgbClr val="EBF0F7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300" b="0">
                <a:solidFill>
                  <a:srgbClr val="263142"/>
                </a:solidFill>
                <a:latin typeface="Aptos"/>
              </a:rPr>
              <a:t>O(n log n)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9760" y="4818888"/>
            <a:ext cx="1755648" cy="621792"/>
          </a:xfrm>
          <a:prstGeom prst="roundRect">
            <a:avLst/>
          </a:prstGeom>
          <a:solidFill>
            <a:srgbClr val="EBF0F7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300" b="0">
                <a:solidFill>
                  <a:srgbClr val="263142"/>
                </a:solidFill>
                <a:latin typeface="Aptos"/>
              </a:rPr>
              <a:t>O(n)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486400"/>
            <a:ext cx="104241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700" b="1">
                <a:solidFill>
                  <a:srgbClr val="1C9B91"/>
                </a:solidFill>
                <a:latin typeface="Aptos"/>
              </a:rPr>
              <a:t>C++ shortcut: sort(a.begin(), a.end());   •   Typical complexity: O(n log n)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3D"/>
                </a:solidFill>
                <a:latin typeface="Aptos"/>
              </a:rPr>
              <a:t>9. Two-dimensional arrays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9728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637083"/>
                </a:solidFill>
                <a:latin typeface="Aptos"/>
              </a:rPr>
              <a:t>Think of a matrix as a table with rows and columns.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292608"/>
            <a:ext cx="12344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1C9B91"/>
                </a:solidFill>
                <a:latin typeface="Aptos"/>
              </a:rPr>
              <a:t>2D ARRAYS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637083"/>
                </a:solidFill>
                <a:latin typeface="Aptos"/>
              </a:rPr>
              <a:t>C++ BOOTCAMP  •  VISUAL LEARNING  •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43891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3D"/>
                </a:solidFill>
                <a:latin typeface="Aptos"/>
              </a:rPr>
              <a:t>A 2 × 3 matrix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965960"/>
            <a:ext cx="914400" cy="685800"/>
          </a:xfrm>
          <a:prstGeom prst="roundRect">
            <a:avLst/>
          </a:prstGeom>
          <a:solidFill>
            <a:srgbClr val="E0EBFB"/>
          </a:solidFill>
          <a:ln w="16510">
            <a:solidFill>
              <a:srgbClr val="30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2200" b="1">
                <a:solidFill>
                  <a:srgbClr val="14223D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79192"/>
            <a:ext cx="9144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637083"/>
                </a:solidFill>
                <a:latin typeface="Aptos"/>
              </a:rPr>
              <a:t>[0][0]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40280" y="1965960"/>
            <a:ext cx="914400" cy="685800"/>
          </a:xfrm>
          <a:prstGeom prst="roundRect">
            <a:avLst/>
          </a:prstGeom>
          <a:solidFill>
            <a:srgbClr val="E0EBFB"/>
          </a:solidFill>
          <a:ln w="16510">
            <a:solidFill>
              <a:srgbClr val="30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2200" b="1">
                <a:solidFill>
                  <a:srgbClr val="14223D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679192"/>
            <a:ext cx="9144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637083"/>
                </a:solidFill>
                <a:latin typeface="Aptos"/>
              </a:rPr>
              <a:t>[0][1]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965960"/>
            <a:ext cx="914400" cy="685800"/>
          </a:xfrm>
          <a:prstGeom prst="roundRect">
            <a:avLst/>
          </a:prstGeom>
          <a:solidFill>
            <a:srgbClr val="E0EBFB"/>
          </a:solidFill>
          <a:ln w="16510">
            <a:solidFill>
              <a:srgbClr val="30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2200" b="1">
                <a:solidFill>
                  <a:srgbClr val="14223D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679192"/>
            <a:ext cx="9144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637083"/>
                </a:solidFill>
                <a:latin typeface="Aptos"/>
              </a:rPr>
              <a:t>[0][2]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880360"/>
            <a:ext cx="914400" cy="685800"/>
          </a:xfrm>
          <a:prstGeom prst="roundRect">
            <a:avLst/>
          </a:prstGeom>
          <a:solidFill>
            <a:srgbClr val="DAF4EF"/>
          </a:solidFill>
          <a:ln w="16510">
            <a:solidFill>
              <a:srgbClr val="1C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2200" b="1">
                <a:solidFill>
                  <a:srgbClr val="14223D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593592"/>
            <a:ext cx="9144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637083"/>
                </a:solidFill>
                <a:latin typeface="Aptos"/>
              </a:rPr>
              <a:t>[1][0]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40280" y="2880360"/>
            <a:ext cx="914400" cy="685800"/>
          </a:xfrm>
          <a:prstGeom prst="roundRect">
            <a:avLst/>
          </a:prstGeom>
          <a:solidFill>
            <a:srgbClr val="DAF4EF"/>
          </a:solidFill>
          <a:ln w="16510">
            <a:solidFill>
              <a:srgbClr val="1C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2200" b="1">
                <a:solidFill>
                  <a:srgbClr val="14223D"/>
                </a:solidFill>
                <a:latin typeface="Aptos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3593592"/>
            <a:ext cx="9144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637083"/>
                </a:solidFill>
                <a:latin typeface="Aptos"/>
              </a:rPr>
              <a:t>[1][1]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2880360"/>
            <a:ext cx="914400" cy="685800"/>
          </a:xfrm>
          <a:prstGeom prst="roundRect">
            <a:avLst/>
          </a:prstGeom>
          <a:solidFill>
            <a:srgbClr val="DAF4EF"/>
          </a:solidFill>
          <a:ln w="16510">
            <a:solidFill>
              <a:srgbClr val="1C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2200" b="1">
                <a:solidFill>
                  <a:srgbClr val="14223D"/>
                </a:solidFill>
                <a:latin typeface="Aptos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593592"/>
            <a:ext cx="9144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637083"/>
                </a:solidFill>
                <a:latin typeface="Aptos"/>
              </a:rPr>
              <a:t>[1][2]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0" y="1691640"/>
            <a:ext cx="5120640" cy="8229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2400" b="1">
                <a:solidFill>
                  <a:srgbClr val="14223D"/>
                </a:solidFill>
                <a:latin typeface="Aptos"/>
              </a:rPr>
              <a:t>a[row][column]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2834640"/>
            <a:ext cx="4846320" cy="2011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3142"/>
                </a:solidFill>
                <a:latin typeface="Aptos"/>
              </a:defRPr>
            </a:pPr>
            <a:r>
              <a:t>First index selects the row.</a:t>
            </a:r>
          </a:p>
          <a:p>
            <a:pPr>
              <a:spcAft>
                <a:spcPts val="800"/>
              </a:spcAft>
              <a:defRPr sz="1700">
                <a:solidFill>
                  <a:srgbClr val="263142"/>
                </a:solidFill>
                <a:latin typeface="Aptos"/>
              </a:defRPr>
            </a:pPr>
            <a:r>
              <a:t>Second index selects the column.</a:t>
            </a:r>
          </a:p>
          <a:p>
            <a:pPr>
              <a:spcAft>
                <a:spcPts val="800"/>
              </a:spcAft>
              <a:defRPr sz="1700">
                <a:solidFill>
                  <a:srgbClr val="263142"/>
                </a:solidFill>
                <a:latin typeface="Aptos"/>
              </a:defRPr>
            </a:pPr>
            <a:r>
              <a:t>a[0][2] = 3; a[1][1] = 5.</a:t>
            </a:r>
          </a:p>
          <a:p>
            <a:pPr>
              <a:spcAft>
                <a:spcPts val="800"/>
              </a:spcAft>
              <a:defRPr sz="1700">
                <a:solidFill>
                  <a:srgbClr val="263142"/>
                </a:solidFill>
                <a:latin typeface="Aptos"/>
              </a:defRPr>
            </a:pPr>
            <a:r>
              <a:t>For n rows and m columns, visit n × m cells.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303520"/>
            <a:ext cx="1042416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700" b="1">
                <a:solidFill>
                  <a:srgbClr val="1C9B91"/>
                </a:solidFill>
                <a:latin typeface="Aptos"/>
              </a:rPr>
              <a:t>Indices start at 0, not 1.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3D"/>
                </a:solidFill>
                <a:latin typeface="Aptos"/>
              </a:rPr>
              <a:t>2D array simulation: row-by-row traversal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9728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637083"/>
                </a:solidFill>
                <a:latin typeface="Aptos"/>
              </a:rPr>
              <a:t>The outer loop chooses a row; the inner loop visits each column in that row.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292608"/>
            <a:ext cx="12344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1C9B91"/>
                </a:solidFill>
                <a:latin typeface="Aptos"/>
              </a:rPr>
              <a:t>2D ARRAYS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637083"/>
                </a:solidFill>
                <a:latin typeface="Aptos"/>
              </a:rPr>
              <a:t>C++ BOOTCAMP  •  VISUAL LEARNING  • 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1600200"/>
            <a:ext cx="914400" cy="640080"/>
          </a:xfrm>
          <a:prstGeom prst="roundRect">
            <a:avLst/>
          </a:prstGeom>
          <a:solidFill>
            <a:srgbClr val="DAF4EF"/>
          </a:solidFill>
          <a:ln w="16510">
            <a:solidFill>
              <a:srgbClr val="1C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2100" b="1">
                <a:solidFill>
                  <a:srgbClr val="263142"/>
                </a:solidFill>
                <a:latin typeface="Aptos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1600200"/>
            <a:ext cx="914400" cy="640080"/>
          </a:xfrm>
          <a:prstGeom prst="roundRect">
            <a:avLst/>
          </a:prstGeom>
          <a:solidFill>
            <a:srgbClr val="DAF4EF"/>
          </a:solidFill>
          <a:ln w="16510">
            <a:solidFill>
              <a:srgbClr val="1C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2100" b="1">
                <a:solidFill>
                  <a:srgbClr val="263142"/>
                </a:solidFill>
                <a:latin typeface="Aptos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00200"/>
            <a:ext cx="914400" cy="640080"/>
          </a:xfrm>
          <a:prstGeom prst="roundRect">
            <a:avLst/>
          </a:prstGeom>
          <a:solidFill>
            <a:srgbClr val="DAF4EF"/>
          </a:solidFill>
          <a:ln w="16510">
            <a:solidFill>
              <a:srgbClr val="1C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2100" b="1">
                <a:solidFill>
                  <a:srgbClr val="263142"/>
                </a:solidFill>
                <a:latin typeface="Aptos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2468880"/>
            <a:ext cx="914400" cy="640080"/>
          </a:xfrm>
          <a:prstGeom prst="roundRect">
            <a:avLst/>
          </a:prstGeom>
          <a:solidFill>
            <a:srgbClr val="DAF4EF"/>
          </a:solidFill>
          <a:ln w="16510">
            <a:solidFill>
              <a:srgbClr val="1C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2100" b="1">
                <a:solidFill>
                  <a:srgbClr val="263142"/>
                </a:solidFill>
                <a:latin typeface="Aptos"/>
              </a:rPr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2468880"/>
            <a:ext cx="914400" cy="6400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2100" b="1">
                <a:solidFill>
                  <a:srgbClr val="263142"/>
                </a:solidFill>
                <a:latin typeface="Aptos"/>
              </a:rPr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468880"/>
            <a:ext cx="914400" cy="6400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2100" b="1">
                <a:solidFill>
                  <a:srgbClr val="263142"/>
                </a:solidFill>
                <a:latin typeface="Aptos"/>
              </a:rPr>
              <a:t>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3337560"/>
            <a:ext cx="914400" cy="6400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2100" b="1">
                <a:solidFill>
                  <a:srgbClr val="263142"/>
                </a:solidFill>
                <a:latin typeface="Aptos"/>
              </a:rPr>
              <a:t>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0" y="3337560"/>
            <a:ext cx="914400" cy="6400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2100" b="1">
                <a:solidFill>
                  <a:srgbClr val="263142"/>
                </a:solidFill>
                <a:latin typeface="Aptos"/>
              </a:rPr>
              <a:t>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3337560"/>
            <a:ext cx="914400" cy="6400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2100" b="1">
                <a:solidFill>
                  <a:srgbClr val="263142"/>
                </a:solidFill>
                <a:latin typeface="Aptos"/>
              </a:rP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1600200"/>
            <a:ext cx="594360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4223D"/>
                </a:solidFill>
                <a:latin typeface="Aptos"/>
              </a:rPr>
              <a:t>Traversal order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2194560"/>
            <a:ext cx="5486400" cy="10972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200" b="1">
                <a:solidFill>
                  <a:srgbClr val="1C9B91"/>
                </a:solidFill>
                <a:latin typeface="Aptos"/>
              </a:rPr>
              <a:t>1 → 2 → 3 → 4 → 5 → 6 → 7 → 8 → 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3520440"/>
            <a:ext cx="53949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14223D"/>
                </a:solidFill>
                <a:latin typeface="Aptos"/>
              </a:rPr>
              <a:t>Pseudocode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3931920"/>
            <a:ext cx="5486400" cy="1143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0">
                <a:solidFill>
                  <a:srgbClr val="263142"/>
                </a:solidFill>
                <a:latin typeface="Aptos"/>
              </a:rPr>
              <a:t>for (i = 0; i &lt; n; i++)
    for (j = 0; j &lt; m; j++)
        visit(a[i][j]);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166360"/>
            <a:ext cx="1042416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3068BE"/>
                </a:solidFill>
                <a:latin typeface="Aptos"/>
              </a:rPr>
              <a:t>Total time: O(n × m) because each cell is visited once.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3D"/>
                </a:solidFill>
                <a:latin typeface="Aptos"/>
              </a:rPr>
              <a:t>2D arrays: row sums, column sums &amp; diagonal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9728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637083"/>
                </a:solidFill>
                <a:latin typeface="Aptos"/>
              </a:rPr>
              <a:t>Change which index stays fixed to change what you calculate.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292608"/>
            <a:ext cx="12344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1C9B91"/>
                </a:solidFill>
                <a:latin typeface="Aptos"/>
              </a:rPr>
              <a:t>2D ARRAYS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637083"/>
                </a:solidFill>
                <a:latin typeface="Aptos"/>
              </a:rPr>
              <a:t>C++ BOOTCAMP  •  VISUAL LEARNING  •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33832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1">
                <a:solidFill>
                  <a:srgbClr val="1C9B91"/>
                </a:solidFill>
                <a:latin typeface="Aptos"/>
              </a:rPr>
              <a:t>ROW SUMS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83080"/>
            <a:ext cx="566928" cy="502920"/>
          </a:xfrm>
          <a:prstGeom prst="roundRect">
            <a:avLst/>
          </a:prstGeom>
          <a:solidFill>
            <a:srgbClr val="DAF4EF"/>
          </a:solidFill>
          <a:ln w="16510">
            <a:solidFill>
              <a:srgbClr val="1C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54480" y="1783080"/>
            <a:ext cx="566928" cy="502920"/>
          </a:xfrm>
          <a:prstGeom prst="roundRect">
            <a:avLst/>
          </a:prstGeom>
          <a:solidFill>
            <a:srgbClr val="DAF4EF"/>
          </a:solidFill>
          <a:ln w="16510">
            <a:solidFill>
              <a:srgbClr val="1C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1783080"/>
            <a:ext cx="566928" cy="502920"/>
          </a:xfrm>
          <a:prstGeom prst="roundRect">
            <a:avLst/>
          </a:prstGeom>
          <a:solidFill>
            <a:srgbClr val="DAF4EF"/>
          </a:solidFill>
          <a:ln w="16510">
            <a:solidFill>
              <a:srgbClr val="1C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468880"/>
            <a:ext cx="566928" cy="5029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54480" y="2468880"/>
            <a:ext cx="566928" cy="5029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2468880"/>
            <a:ext cx="566928" cy="5029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154680"/>
            <a:ext cx="566928" cy="5029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54480" y="3154680"/>
            <a:ext cx="566928" cy="5029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3154680"/>
            <a:ext cx="566928" cy="5029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977639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263142"/>
                </a:solidFill>
                <a:latin typeface="Aptos"/>
              </a:rPr>
              <a:t>Row 1: 1 + 2 + 3 =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1325880"/>
            <a:ext cx="33832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1">
                <a:solidFill>
                  <a:srgbClr val="3068BE"/>
                </a:solidFill>
                <a:latin typeface="Aptos"/>
              </a:rPr>
              <a:t>COLUMN SUMS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60" y="1783080"/>
            <a:ext cx="566928" cy="5029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12080" y="1783080"/>
            <a:ext cx="566928" cy="502920"/>
          </a:xfrm>
          <a:prstGeom prst="roundRect">
            <a:avLst/>
          </a:prstGeom>
          <a:solidFill>
            <a:srgbClr val="E0EBFB"/>
          </a:solidFill>
          <a:ln w="16510">
            <a:solidFill>
              <a:srgbClr val="30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1783080"/>
            <a:ext cx="566928" cy="5029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2468880"/>
            <a:ext cx="566928" cy="5029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12080" y="2468880"/>
            <a:ext cx="566928" cy="502920"/>
          </a:xfrm>
          <a:prstGeom prst="roundRect">
            <a:avLst/>
          </a:prstGeom>
          <a:solidFill>
            <a:srgbClr val="E0EBFB"/>
          </a:solidFill>
          <a:ln w="16510">
            <a:solidFill>
              <a:srgbClr val="30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2468880"/>
            <a:ext cx="566928" cy="5029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60" y="3154680"/>
            <a:ext cx="566928" cy="5029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12080" y="3154680"/>
            <a:ext cx="566928" cy="502920"/>
          </a:xfrm>
          <a:prstGeom prst="roundRect">
            <a:avLst/>
          </a:prstGeom>
          <a:solidFill>
            <a:srgbClr val="E0EBFB"/>
          </a:solidFill>
          <a:ln w="16510">
            <a:solidFill>
              <a:srgbClr val="30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0" y="3154680"/>
            <a:ext cx="566928" cy="5029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3977639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263142"/>
                </a:solidFill>
                <a:latin typeface="Aptos"/>
              </a:rPr>
              <a:t>Column 1: 2 + 5 + 8 = 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1325880"/>
            <a:ext cx="33832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1">
                <a:solidFill>
                  <a:srgbClr val="F4B436"/>
                </a:solidFill>
                <a:latin typeface="Aptos"/>
              </a:rPr>
              <a:t>MAIN DIAGONAL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79" y="1783080"/>
            <a:ext cx="566928" cy="502920"/>
          </a:xfrm>
          <a:prstGeom prst="roundRect">
            <a:avLst/>
          </a:prstGeom>
          <a:solidFill>
            <a:srgbClr val="FFF2D2"/>
          </a:solidFill>
          <a:ln w="16510">
            <a:solidFill>
              <a:srgbClr val="F4B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15400" y="1783080"/>
            <a:ext cx="566928" cy="5029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46919" y="1783080"/>
            <a:ext cx="566928" cy="5029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83879" y="2468880"/>
            <a:ext cx="566928" cy="5029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15400" y="2468880"/>
            <a:ext cx="566928" cy="502920"/>
          </a:xfrm>
          <a:prstGeom prst="roundRect">
            <a:avLst/>
          </a:prstGeom>
          <a:solidFill>
            <a:srgbClr val="FFF2D2"/>
          </a:solidFill>
          <a:ln w="16510">
            <a:solidFill>
              <a:srgbClr val="F4B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46919" y="2468880"/>
            <a:ext cx="566928" cy="5029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83879" y="3154680"/>
            <a:ext cx="566928" cy="5029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7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15400" y="3154680"/>
            <a:ext cx="566928" cy="5029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0E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8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46919" y="3154680"/>
            <a:ext cx="566928" cy="502920"/>
          </a:xfrm>
          <a:prstGeom prst="roundRect">
            <a:avLst/>
          </a:prstGeom>
          <a:solidFill>
            <a:srgbClr val="FFF2D2"/>
          </a:solidFill>
          <a:ln w="16510">
            <a:solidFill>
              <a:srgbClr val="F4B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600" b="1">
                <a:solidFill>
                  <a:srgbClr val="263142"/>
                </a:solidFill>
                <a:latin typeface="Aptos"/>
              </a:rPr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3977639"/>
            <a:ext cx="28346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263142"/>
                </a:solidFill>
                <a:latin typeface="Aptos"/>
              </a:rPr>
              <a:t>1 + 5 + 9 = 15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4937760"/>
            <a:ext cx="105156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14223D"/>
                </a:solidFill>
                <a:latin typeface="Aptos"/>
              </a:rPr>
              <a:t>Row: fix i, vary j     •     Column: fix j, vary i     •     Main diagonal: i == j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3D"/>
                </a:solidFill>
                <a:latin typeface="Aptos"/>
              </a:rPr>
              <a:t>2D arrays: transpose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9728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637083"/>
                </a:solidFill>
                <a:latin typeface="Aptos"/>
              </a:rPr>
              <a:t>Transpose swaps rows and columns. An n × m matrix becomes m × 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292608"/>
            <a:ext cx="12344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000" b="1">
                <a:solidFill>
                  <a:srgbClr val="1C9B91"/>
                </a:solidFill>
                <a:latin typeface="Aptos"/>
              </a:rPr>
              <a:t>2D ARRAYS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637083"/>
                </a:solidFill>
                <a:latin typeface="Aptos"/>
              </a:rPr>
              <a:t>C++ BOOTCAMP  •  VISUAL LEARNING  •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32004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400" b="1">
                <a:solidFill>
                  <a:srgbClr val="14223D"/>
                </a:solidFill>
                <a:latin typeface="Aptos"/>
              </a:rPr>
              <a:t>ORIGINAL: 2 ×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874519"/>
            <a:ext cx="658368" cy="566928"/>
          </a:xfrm>
          <a:prstGeom prst="roundRect">
            <a:avLst/>
          </a:prstGeom>
          <a:solidFill>
            <a:srgbClr val="E0EBFB"/>
          </a:solidFill>
          <a:ln w="16510">
            <a:solidFill>
              <a:srgbClr val="30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800" b="1">
                <a:solidFill>
                  <a:srgbClr val="14223D"/>
                </a:solidFill>
                <a:latin typeface="Aptos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1874519"/>
            <a:ext cx="658368" cy="566928"/>
          </a:xfrm>
          <a:prstGeom prst="roundRect">
            <a:avLst/>
          </a:prstGeom>
          <a:solidFill>
            <a:srgbClr val="E0EBFB"/>
          </a:solidFill>
          <a:ln w="16510">
            <a:solidFill>
              <a:srgbClr val="30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800" b="1">
                <a:solidFill>
                  <a:srgbClr val="14223D"/>
                </a:solidFill>
                <a:latin typeface="Aptos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1874519"/>
            <a:ext cx="658368" cy="566928"/>
          </a:xfrm>
          <a:prstGeom prst="roundRect">
            <a:avLst/>
          </a:prstGeom>
          <a:solidFill>
            <a:srgbClr val="E0EBFB"/>
          </a:solidFill>
          <a:ln w="16510">
            <a:solidFill>
              <a:srgbClr val="30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800" b="1">
                <a:solidFill>
                  <a:srgbClr val="14223D"/>
                </a:solidFill>
                <a:latin typeface="Aptos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651760"/>
            <a:ext cx="658368" cy="566928"/>
          </a:xfrm>
          <a:prstGeom prst="roundRect">
            <a:avLst/>
          </a:prstGeom>
          <a:solidFill>
            <a:srgbClr val="E0EBFB"/>
          </a:solidFill>
          <a:ln w="16510">
            <a:solidFill>
              <a:srgbClr val="30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800" b="1">
                <a:solidFill>
                  <a:srgbClr val="14223D"/>
                </a:solidFill>
                <a:latin typeface="Aptos"/>
              </a:rP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83080" y="2651760"/>
            <a:ext cx="658368" cy="566928"/>
          </a:xfrm>
          <a:prstGeom prst="roundRect">
            <a:avLst/>
          </a:prstGeom>
          <a:solidFill>
            <a:srgbClr val="E0EBFB"/>
          </a:solidFill>
          <a:ln w="16510">
            <a:solidFill>
              <a:srgbClr val="30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800" b="1">
                <a:solidFill>
                  <a:srgbClr val="14223D"/>
                </a:solidFill>
                <a:latin typeface="Aptos"/>
              </a:rP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1760" y="2651760"/>
            <a:ext cx="658368" cy="566928"/>
          </a:xfrm>
          <a:prstGeom prst="roundRect">
            <a:avLst/>
          </a:prstGeom>
          <a:solidFill>
            <a:srgbClr val="E0EBFB"/>
          </a:solidFill>
          <a:ln w="16510">
            <a:solidFill>
              <a:srgbClr val="30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800" b="1">
                <a:solidFill>
                  <a:srgbClr val="14223D"/>
                </a:solidFill>
                <a:latin typeface="Aptos"/>
              </a:rPr>
              <a:t>6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2606040"/>
            <a:ext cx="1371600" cy="0"/>
          </a:xfrm>
          <a:prstGeom prst="line">
            <a:avLst/>
          </a:prstGeom>
          <a:ln w="38100">
            <a:solidFill>
              <a:srgbClr val="1C9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160520" y="2880360"/>
            <a:ext cx="13716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1C9B91"/>
                </a:solidFill>
                <a:latin typeface="Aptos"/>
              </a:rPr>
              <a:t>Transpose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1371600"/>
            <a:ext cx="32004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400" b="1">
                <a:solidFill>
                  <a:srgbClr val="14223D"/>
                </a:solidFill>
                <a:latin typeface="Aptos"/>
              </a:rPr>
              <a:t>RESULT: 3 ×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874519"/>
            <a:ext cx="658368" cy="566928"/>
          </a:xfrm>
          <a:prstGeom prst="roundRect">
            <a:avLst/>
          </a:prstGeom>
          <a:solidFill>
            <a:srgbClr val="DAF4EF"/>
          </a:solidFill>
          <a:ln w="16510">
            <a:solidFill>
              <a:srgbClr val="1C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800" b="1">
                <a:solidFill>
                  <a:srgbClr val="14223D"/>
                </a:solidFill>
                <a:latin typeface="Aptos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95160" y="1874519"/>
            <a:ext cx="658368" cy="566928"/>
          </a:xfrm>
          <a:prstGeom prst="roundRect">
            <a:avLst/>
          </a:prstGeom>
          <a:solidFill>
            <a:srgbClr val="DAF4EF"/>
          </a:solidFill>
          <a:ln w="16510">
            <a:solidFill>
              <a:srgbClr val="1C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800" b="1">
                <a:solidFill>
                  <a:srgbClr val="14223D"/>
                </a:solidFill>
                <a:latin typeface="Aptos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2651760"/>
            <a:ext cx="658368" cy="566928"/>
          </a:xfrm>
          <a:prstGeom prst="roundRect">
            <a:avLst/>
          </a:prstGeom>
          <a:solidFill>
            <a:srgbClr val="DAF4EF"/>
          </a:solidFill>
          <a:ln w="16510">
            <a:solidFill>
              <a:srgbClr val="1C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800" b="1">
                <a:solidFill>
                  <a:srgbClr val="14223D"/>
                </a:solidFill>
                <a:latin typeface="Aptos"/>
              </a:rPr>
              <a:t>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95160" y="2651760"/>
            <a:ext cx="658368" cy="566928"/>
          </a:xfrm>
          <a:prstGeom prst="roundRect">
            <a:avLst/>
          </a:prstGeom>
          <a:solidFill>
            <a:srgbClr val="DAF4EF"/>
          </a:solidFill>
          <a:ln w="16510">
            <a:solidFill>
              <a:srgbClr val="1C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800" b="1">
                <a:solidFill>
                  <a:srgbClr val="14223D"/>
                </a:solidFill>
                <a:latin typeface="Aptos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3429000"/>
            <a:ext cx="658368" cy="566928"/>
          </a:xfrm>
          <a:prstGeom prst="roundRect">
            <a:avLst/>
          </a:prstGeom>
          <a:solidFill>
            <a:srgbClr val="DAF4EF"/>
          </a:solidFill>
          <a:ln w="16510">
            <a:solidFill>
              <a:srgbClr val="1C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800" b="1">
                <a:solidFill>
                  <a:srgbClr val="14223D"/>
                </a:solidFill>
                <a:latin typeface="Aptos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95160" y="3429000"/>
            <a:ext cx="658368" cy="566928"/>
          </a:xfrm>
          <a:prstGeom prst="roundRect">
            <a:avLst/>
          </a:prstGeom>
          <a:solidFill>
            <a:srgbClr val="DAF4EF"/>
          </a:solidFill>
          <a:ln w="16510">
            <a:solidFill>
              <a:srgbClr val="1C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800" b="1">
                <a:solidFill>
                  <a:srgbClr val="14223D"/>
                </a:solidFill>
                <a:latin typeface="Aptos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1828800"/>
            <a:ext cx="2743200" cy="23774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63142"/>
                </a:solidFill>
                <a:latin typeface="Aptos"/>
              </a:defRPr>
            </a:pPr>
            <a:r>
              <a:t>Original rows become columns.</a:t>
            </a:r>
          </a:p>
          <a:p>
            <a:pPr>
              <a:spcAft>
                <a:spcPts val="800"/>
              </a:spcAft>
              <a:defRPr sz="1500">
                <a:solidFill>
                  <a:srgbClr val="263142"/>
                </a:solidFill>
                <a:latin typeface="Aptos"/>
              </a:defRPr>
            </a:pPr>
            <a:r>
              <a:t>a[i][j] becomes output[j][i].</a:t>
            </a:r>
          </a:p>
          <a:p>
            <a:pPr>
              <a:spcAft>
                <a:spcPts val="800"/>
              </a:spcAft>
              <a:defRPr sz="1500">
                <a:solidFill>
                  <a:srgbClr val="263142"/>
                </a:solidFill>
                <a:latin typeface="Aptos"/>
              </a:defRPr>
            </a:pPr>
            <a:r>
              <a:t>Useful for matrix problems.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166360"/>
            <a:ext cx="1042416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3068BE"/>
                </a:solidFill>
                <a:latin typeface="Aptos"/>
              </a:rPr>
              <a:t>For rectangular matrices, create or print a separate transposed result.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3D"/>
                </a:solidFill>
                <a:latin typeface="Aptos"/>
              </a:rPr>
              <a:t>Big-O: what should beginners notice?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9728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637083"/>
                </a:solidFill>
                <a:latin typeface="Aptos"/>
              </a:rPr>
              <a:t>Big-O describes how work grows as the input gets larger.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637083"/>
                </a:solidFill>
                <a:latin typeface="Aptos"/>
              </a:rPr>
              <a:t>C++ BOOTCAMP  •  VISUAL LEARNING  • 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417320"/>
            <a:ext cx="1600200" cy="566928"/>
          </a:xfrm>
          <a:prstGeom prst="roundRect">
            <a:avLst/>
          </a:prstGeom>
          <a:solidFill>
            <a:srgbClr val="DAF4EF"/>
          </a:solidFill>
          <a:ln w="16510">
            <a:solidFill>
              <a:srgbClr val="1C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900" b="1">
                <a:solidFill>
                  <a:srgbClr val="14223D"/>
                </a:solidFill>
                <a:latin typeface="Aptos"/>
              </a:rPr>
              <a:t>O(1)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463040"/>
            <a:ext cx="21031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14223D"/>
                </a:solidFill>
                <a:latin typeface="Aptos"/>
              </a:rPr>
              <a:t>Constant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1463040"/>
            <a:ext cx="6217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0">
                <a:solidFill>
                  <a:srgbClr val="263142"/>
                </a:solidFill>
                <a:latin typeface="Aptos"/>
              </a:rPr>
              <a:t>One direct access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258568"/>
            <a:ext cx="1600200" cy="566928"/>
          </a:xfrm>
          <a:prstGeom prst="roundRect">
            <a:avLst/>
          </a:prstGeom>
          <a:solidFill>
            <a:srgbClr val="E0EBFB"/>
          </a:solidFill>
          <a:ln w="16510">
            <a:solidFill>
              <a:srgbClr val="30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900" b="1">
                <a:solidFill>
                  <a:srgbClr val="14223D"/>
                </a:solidFill>
                <a:latin typeface="Aptos"/>
              </a:rPr>
              <a:t>O(log 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304288"/>
            <a:ext cx="21031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14223D"/>
                </a:solidFill>
                <a:latin typeface="Aptos"/>
              </a:rPr>
              <a:t>Logarithmic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2304288"/>
            <a:ext cx="6217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0">
                <a:solidFill>
                  <a:srgbClr val="263142"/>
                </a:solidFill>
                <a:latin typeface="Aptos"/>
              </a:rPr>
              <a:t>Binary search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099816"/>
            <a:ext cx="1600200" cy="566928"/>
          </a:xfrm>
          <a:prstGeom prst="roundRect">
            <a:avLst/>
          </a:prstGeom>
          <a:solidFill>
            <a:srgbClr val="DAF4EF"/>
          </a:solidFill>
          <a:ln w="16510">
            <a:solidFill>
              <a:srgbClr val="329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900" b="1">
                <a:solidFill>
                  <a:srgbClr val="14223D"/>
                </a:solidFill>
                <a:latin typeface="Aptos"/>
              </a:rPr>
              <a:t>O(n)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145536"/>
            <a:ext cx="21031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14223D"/>
                </a:solidFill>
                <a:latin typeface="Aptos"/>
              </a:rPr>
              <a:t>Linear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3145536"/>
            <a:ext cx="6217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0">
                <a:solidFill>
                  <a:srgbClr val="263142"/>
                </a:solidFill>
                <a:latin typeface="Aptos"/>
              </a:rPr>
              <a:t>Linear search / one pass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941064"/>
            <a:ext cx="1600200" cy="566928"/>
          </a:xfrm>
          <a:prstGeom prst="roundRect">
            <a:avLst/>
          </a:prstGeom>
          <a:solidFill>
            <a:srgbClr val="FFF2D2"/>
          </a:solidFill>
          <a:ln w="16510">
            <a:solidFill>
              <a:srgbClr val="F4B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900" b="1">
                <a:solidFill>
                  <a:srgbClr val="14223D"/>
                </a:solidFill>
                <a:latin typeface="Aptos"/>
              </a:rPr>
              <a:t>O(n log 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986784"/>
            <a:ext cx="21031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14223D"/>
                </a:solidFill>
                <a:latin typeface="Aptos"/>
              </a:rPr>
              <a:t>Efficient sorting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986784"/>
            <a:ext cx="6217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0">
                <a:solidFill>
                  <a:srgbClr val="263142"/>
                </a:solidFill>
                <a:latin typeface="Aptos"/>
              </a:rPr>
              <a:t>Merge sort / average quick sort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782312"/>
            <a:ext cx="1600200" cy="566928"/>
          </a:xfrm>
          <a:prstGeom prst="roundRect">
            <a:avLst/>
          </a:prstGeom>
          <a:solidFill>
            <a:srgbClr val="FCE4E4"/>
          </a:solidFill>
          <a:ln w="16510">
            <a:solidFill>
              <a:srgbClr val="D64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900" b="1">
                <a:solidFill>
                  <a:srgbClr val="14223D"/>
                </a:solidFill>
                <a:latin typeface="Aptos"/>
              </a:rPr>
              <a:t>O(n²)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828032"/>
            <a:ext cx="21031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14223D"/>
                </a:solidFill>
                <a:latin typeface="Aptos"/>
              </a:rPr>
              <a:t>Quadratic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4828032"/>
            <a:ext cx="6217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0">
                <a:solidFill>
                  <a:srgbClr val="263142"/>
                </a:solidFill>
                <a:latin typeface="Aptos"/>
              </a:rPr>
              <a:t>Selection / insertion worst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806440"/>
            <a:ext cx="104241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1C9B91"/>
                </a:solidFill>
                <a:latin typeface="Aptos"/>
              </a:rPr>
              <a:t>For large n, O(n log n) generally scales much better than O(n²).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4223D"/>
                </a:solidFill>
                <a:latin typeface="Aptos"/>
              </a:rPr>
              <a:t>Quick recap: ask the 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9728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637083"/>
                </a:solidFill>
                <a:latin typeface="Aptos"/>
              </a:rPr>
              <a:t>Pause here and let students answer before revealing the key.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637083"/>
                </a:solidFill>
                <a:latin typeface="Aptos"/>
              </a:rPr>
              <a:t>C++ BOOTCAMP  •  VISUAL LEARNING  • 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10332720" cy="34747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63142"/>
                </a:solidFill>
                <a:latin typeface="Aptos"/>
              </a:defRPr>
            </a:pPr>
            <a:r>
              <a:t>1. Does binary search require a sorted array?</a:t>
            </a:r>
          </a:p>
          <a:p>
            <a:pPr>
              <a:spcAft>
                <a:spcPts val="1300"/>
              </a:spcAft>
              <a:defRPr sz="2000">
                <a:solidFill>
                  <a:srgbClr val="263142"/>
                </a:solidFill>
                <a:latin typeface="Aptos"/>
              </a:defRPr>
            </a:pPr>
            <a:r>
              <a:t>2. What is the worst-case time of linear search?</a:t>
            </a:r>
          </a:p>
          <a:p>
            <a:pPr>
              <a:spcAft>
                <a:spcPts val="1300"/>
              </a:spcAft>
              <a:defRPr sz="2000">
                <a:solidFill>
                  <a:srgbClr val="263142"/>
                </a:solidFill>
                <a:latin typeface="Aptos"/>
              </a:defRPr>
            </a:pPr>
            <a:r>
              <a:t>3. Which sort inserts a key into a sorted prefix?</a:t>
            </a:r>
          </a:p>
          <a:p>
            <a:pPr>
              <a:spcAft>
                <a:spcPts val="1300"/>
              </a:spcAft>
              <a:defRPr sz="2000">
                <a:solidFill>
                  <a:srgbClr val="263142"/>
                </a:solidFill>
                <a:latin typeface="Aptos"/>
              </a:defRPr>
            </a:pPr>
            <a:r>
              <a:t>4. Which sort divides, then merges?</a:t>
            </a:r>
          </a:p>
          <a:p>
            <a:pPr>
              <a:spcAft>
                <a:spcPts val="1300"/>
              </a:spcAft>
              <a:defRPr sz="2000">
                <a:solidFill>
                  <a:srgbClr val="263142"/>
                </a:solidFill>
                <a:latin typeface="Aptos"/>
              </a:defRPr>
            </a:pPr>
            <a:r>
              <a:t>5. In a 2D array, what does a[i][j] mean?</a:t>
            </a:r>
          </a:p>
          <a:p>
            <a:pPr>
              <a:spcAft>
                <a:spcPts val="1300"/>
              </a:spcAft>
              <a:defRPr sz="2000">
                <a:solidFill>
                  <a:srgbClr val="263142"/>
                </a:solidFill>
                <a:latin typeface="Aptos"/>
              </a:defRPr>
            </a:pPr>
            <a:r>
              <a:t>6. Why do we write k %= n for rotation?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257800"/>
            <a:ext cx="10241280" cy="658368"/>
          </a:xfrm>
          <a:prstGeom prst="roundRect">
            <a:avLst/>
          </a:prstGeom>
          <a:solidFill>
            <a:srgbClr val="DAF4EF"/>
          </a:solidFill>
          <a:ln w="16510">
            <a:solidFill>
              <a:srgbClr val="1C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500" b="1">
                <a:solidFill>
                  <a:srgbClr val="14223D"/>
                </a:solidFill>
                <a:latin typeface="Aptos"/>
              </a:rPr>
              <a:t>Answers: Yes • O(n) • Insertion sort • Merge sort • row i, column j • rotations repeat every n steps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637083"/>
                </a:solidFill>
                <a:latin typeface="Aptos"/>
              </a:rPr>
              <a:t>C++ BOOTCAMP  •  VISUAL LEARNING  • 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89920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Practice before you leave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5156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0">
                <a:solidFill>
                  <a:srgbClr val="CDD9EB"/>
                </a:solidFill>
                <a:latin typeface="Aptos"/>
              </a:rPr>
              <a:t>Try these in pairs: explain the approach before coding.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9966960" cy="3108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1. Left-rotate an array by k positions.</a:t>
            </a:r>
          </a:p>
          <a:p>
            <a:pPr>
              <a:spcAft>
                <a:spcPts val="11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2. Implement linear search and binary search.</a:t>
            </a:r>
          </a:p>
          <a:p>
            <a:pPr>
              <a:spcAft>
                <a:spcPts val="11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3. Reverse an array using two pointers.</a:t>
            </a:r>
          </a:p>
          <a:p>
            <a:pPr>
              <a:spcAft>
                <a:spcPts val="11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4. Dry-run selection sort and insertion sort.</a:t>
            </a:r>
          </a:p>
          <a:p>
            <a:pPr>
              <a:spcAft>
                <a:spcPts val="11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5. Explain quick sort vs merge sort.</a:t>
            </a:r>
          </a:p>
          <a:p>
            <a:pPr>
              <a:spcAft>
                <a:spcPts val="11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6. Print row sums and the transpose of a matrix.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2100" b="1">
                <a:solidFill>
                  <a:srgbClr val="1C9B91"/>
                </a:solidFill>
                <a:latin typeface="Aptos"/>
              </a:rPr>
              <a:t>Predict → Simulate → Explain →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637083"/>
                </a:solidFill>
                <a:latin typeface="Aptos"/>
              </a:rPr>
              <a:t>C++ BOOTCAMP  •  VISUAL LEARNING  • 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