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0" y="640080"/>
            <a:ext cx="2560320" cy="914400"/>
          </a:xfrm>
          <a:prstGeom prst="roundRect">
            <a:avLst/>
          </a:prstGeom>
          <a:solidFill>
            <a:srgbClr val="396EE6"/>
          </a:solidFill>
          <a:ln>
            <a:solidFill>
              <a:srgbClr val="39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26880" y="1828800"/>
            <a:ext cx="1920240" cy="914400"/>
          </a:xfrm>
          <a:prstGeom prst="roundRect">
            <a:avLst/>
          </a:prstGeom>
          <a:solidFill>
            <a:srgbClr val="4AC9DC"/>
          </a:solidFill>
          <a:ln>
            <a:solidFill>
              <a:srgbClr val="4A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720" y="3017520"/>
            <a:ext cx="3200400" cy="914400"/>
          </a:xfrm>
          <a:prstGeom prst="roundRect">
            <a:avLst/>
          </a:prstGeom>
          <a:solidFill>
            <a:srgbClr val="8766D6"/>
          </a:solidFill>
          <a:ln>
            <a:solidFill>
              <a:srgbClr val="87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0" y="4206240"/>
            <a:ext cx="2286000" cy="914400"/>
          </a:xfrm>
          <a:prstGeom prst="roundRect">
            <a:avLst/>
          </a:prstGeom>
          <a:solidFill>
            <a:srgbClr val="FFC759"/>
          </a:solidFill>
          <a:ln>
            <a:solidFill>
              <a:srgbClr val="FF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685800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600" b="1">
                <a:solidFill>
                  <a:srgbClr val="4AC9DC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6949440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3600" b="1">
                <a:solidFill>
                  <a:srgbClr val="F8FAFD"/>
                </a:solidFill>
                <a:latin typeface="Aptos"/>
              </a:rPr>
              <a:t>Character Arrays
&amp; Strings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649224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0">
                <a:solidFill>
                  <a:srgbClr val="D2DCF0"/>
                </a:solidFill>
                <a:latin typeface="Aptos"/>
              </a:rPr>
              <a:t>From individual characters to useful text operations in C++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6217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400" b="1">
                <a:solidFill>
                  <a:srgbClr val="FFC759"/>
                </a:solidFill>
                <a:latin typeface="Aptos"/>
              </a:rPr>
              <a:t>Learn it • Trace it • Code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17720"/>
            <a:ext cx="658368" cy="658368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100" b="1">
                <a:solidFill>
                  <a:srgbClr val="F8FAFD"/>
                </a:solidFill>
                <a:latin typeface="Aptos"/>
              </a:rPr>
              <a:t>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4617720"/>
            <a:ext cx="658368" cy="658368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100" b="1">
                <a:solidFill>
                  <a:srgbClr val="F8FAFD"/>
                </a:solidFill>
                <a:latin typeface="Aptos"/>
              </a:rPr>
              <a:t>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4617720"/>
            <a:ext cx="658368" cy="658368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100" b="1">
                <a:solidFill>
                  <a:srgbClr val="F8FAFD"/>
                </a:solidFill>
                <a:latin typeface="Aptos"/>
              </a:rPr>
              <a:t>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617720"/>
            <a:ext cx="658368" cy="658368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100" b="1">
                <a:solidFill>
                  <a:srgbClr val="F8FAFD"/>
                </a:solidFill>
                <a:latin typeface="Aptos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AAB9D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Today’s learning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By the end, learners should be able to explain, trace, and write simple string code.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212080" cy="16002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7" y="1810512"/>
            <a:ext cx="658368" cy="658368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>
                <a:solidFill>
                  <a:srgbClr val="F8FAF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39" y="1755648"/>
            <a:ext cx="3840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Character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39" y="2240280"/>
            <a:ext cx="38404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0">
                <a:solidFill>
                  <a:srgbClr val="66738A"/>
                </a:solidFill>
                <a:latin typeface="Aptos"/>
              </a:rPr>
              <a:t>Store one symbol using char.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16002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19088" y="1810512"/>
            <a:ext cx="658368" cy="658368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>
                <a:solidFill>
                  <a:srgbClr val="F8FAFD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1755648"/>
            <a:ext cx="3840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Character array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2240280"/>
            <a:ext cx="38404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0">
                <a:solidFill>
                  <a:srgbClr val="66738A"/>
                </a:solidFill>
                <a:latin typeface="Aptos"/>
              </a:rPr>
              <a:t>Understand characters stored in adjacent slots.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5212080" cy="16002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7" y="3867912"/>
            <a:ext cx="658368" cy="658368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>
                <a:solidFill>
                  <a:srgbClr val="F8FAFD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39" y="3813048"/>
            <a:ext cx="3840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std::string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39" y="4297680"/>
            <a:ext cx="38404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0">
                <a:solidFill>
                  <a:srgbClr val="66738A"/>
                </a:solidFill>
                <a:latin typeface="Aptos"/>
              </a:rPr>
              <a:t>Read and modify text safely and conveniently.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11880"/>
            <a:ext cx="5212080" cy="16002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9088" y="3867912"/>
            <a:ext cx="658368" cy="658368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>
                <a:solidFill>
                  <a:srgbClr val="F8FAFD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3813048"/>
            <a:ext cx="3840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4297680"/>
            <a:ext cx="38404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0">
                <a:solidFill>
                  <a:srgbClr val="66738A"/>
                </a:solidFill>
                <a:latin typeface="Aptos"/>
              </a:rPr>
              <a:t>Length, access, traversal, reverse, compare,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Warm-up: data can be one character or many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Ask the class: which declaration stores a single symbol, and which stores a word?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12080" cy="356616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5720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100" b="1">
                <a:solidFill>
                  <a:srgbClr val="14203A"/>
                </a:solidFill>
                <a:latin typeface="Aptos"/>
              </a:rPr>
              <a:t>One character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468880"/>
            <a:ext cx="4480560" cy="91440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2578608"/>
            <a:ext cx="4187952" cy="694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2000">
                <a:solidFill>
                  <a:srgbClr val="DCE7F8"/>
                </a:solidFill>
                <a:latin typeface="Consolas"/>
              </a:defRPr>
            </a:pPr>
            <a:r>
              <a:t>char grade = 'A';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794760"/>
            <a:ext cx="1005840" cy="731520"/>
          </a:xfrm>
          <a:prstGeom prst="roundRect">
            <a:avLst/>
          </a:prstGeom>
          <a:solidFill>
            <a:srgbClr val="3FAA7E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'A'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886200"/>
            <a:ext cx="29260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600" b="0">
                <a:solidFill>
                  <a:srgbClr val="66738A"/>
                </a:solidFill>
                <a:latin typeface="Aptos"/>
              </a:rPr>
              <a:t>One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00200"/>
            <a:ext cx="5212080" cy="356616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74519"/>
            <a:ext cx="45720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100" b="1">
                <a:solidFill>
                  <a:srgbClr val="14203A"/>
                </a:solidFill>
                <a:latin typeface="Aptos"/>
              </a:rPr>
              <a:t>A word /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468880"/>
            <a:ext cx="4480560" cy="91440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2578608"/>
            <a:ext cx="4187952" cy="694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900">
                <a:solidFill>
                  <a:srgbClr val="DCE7F8"/>
                </a:solidFill>
                <a:latin typeface="Consolas"/>
              </a:defRPr>
            </a:pPr>
            <a:r>
              <a:t>string name = "Maya";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794760"/>
            <a:ext cx="658368" cy="731520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000" b="1">
                <a:solidFill>
                  <a:srgbClr val="F8FAFD"/>
                </a:solidFill>
                <a:latin typeface="Aptos"/>
              </a:rPr>
              <a:t>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794760"/>
            <a:ext cx="658368" cy="731520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000" b="1">
                <a:solidFill>
                  <a:srgbClr val="F8FAFD"/>
                </a:solidFill>
                <a:latin typeface="Aptos"/>
              </a:rPr>
              <a:t>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794760"/>
            <a:ext cx="658368" cy="731520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000" b="1">
                <a:solidFill>
                  <a:srgbClr val="F8FAFD"/>
                </a:solidFill>
                <a:latin typeface="Aptos"/>
              </a:rPr>
              <a:t>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794760"/>
            <a:ext cx="658368" cy="731520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000" b="1">
                <a:solidFill>
                  <a:srgbClr val="F8FAFD"/>
                </a:solidFill>
                <a:latin typeface="Apto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617720"/>
            <a:ext cx="4114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0">
                <a:solidFill>
                  <a:srgbClr val="66738A"/>
                </a:solidFill>
                <a:latin typeface="Aptos"/>
              </a:rPr>
              <a:t>Several characters together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1. The char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A char stores one character. Use single quotes.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754880" cy="201168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09928"/>
            <a:ext cx="4462272" cy="1792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CE7F8"/>
                </a:solidFill>
                <a:latin typeface="Consolas"/>
              </a:defRPr>
            </a:pPr>
            <a:r>
              <a:t>char letter = 'K';</a:t>
            </a:r>
          </a:p>
          <a:p>
            <a:pPr>
              <a:spcAft>
                <a:spcPts val="200"/>
              </a:spcAft>
              <a:defRPr sz="1800">
                <a:solidFill>
                  <a:srgbClr val="DCE7F8"/>
                </a:solidFill>
                <a:latin typeface="Consolas"/>
              </a:defRPr>
            </a:pPr>
            <a:r>
              <a:t>char digit = '7';</a:t>
            </a:r>
          </a:p>
          <a:p>
            <a:pPr>
              <a:spcAft>
                <a:spcPts val="200"/>
              </a:spcAft>
              <a:defRPr sz="1800">
                <a:solidFill>
                  <a:srgbClr val="DCE7F8"/>
                </a:solidFill>
                <a:latin typeface="Consolas"/>
              </a:defRPr>
            </a:pPr>
            <a:r>
              <a:t>char symbol = '#';</a:t>
            </a:r>
          </a:p>
          <a:p>
            <a:pPr>
              <a:spcAft>
                <a:spcPts val="200"/>
              </a:spcAft>
              <a:defRPr sz="1800">
                <a:solidFill>
                  <a:srgbClr val="DCE7F8"/>
                </a:solidFill>
                <a:latin typeface="Consolas"/>
              </a:defRPr>
            </a:pPr>
            <a:r>
              <a:t>cout &lt;&lt; letter;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43891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3FAA7E"/>
                </a:solidFill>
                <a:latin typeface="Aptos"/>
              </a:rPr>
              <a:t>Output: 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600200"/>
            <a:ext cx="5303520" cy="32004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46634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Think of a tiny box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651760"/>
            <a:ext cx="1371600" cy="105156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500" b="1">
                <a:solidFill>
                  <a:srgbClr val="F8FAFD"/>
                </a:solidFill>
                <a:latin typeface="Aptos"/>
              </a:rPr>
              <a:t>'K'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80360"/>
            <a:ext cx="22860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66738A"/>
                </a:solidFill>
                <a:latin typeface="Aptos"/>
              </a:rPr>
              <a:t>letter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46720" y="3182112"/>
            <a:ext cx="164592" cy="0"/>
          </a:xfrm>
          <a:prstGeom prst="line">
            <a:avLst/>
          </a:prstGeom>
          <a:ln w="25400">
            <a:solidFill>
              <a:srgbClr val="4AC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983480"/>
            <a:ext cx="1051560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DC555B"/>
                </a:solidFill>
                <a:latin typeface="Aptos"/>
              </a:rPr>
              <a:t>Important: 'A' is a character. "A" is a string literal (text).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Single quotes vs double quotes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The quotation marks are a useful visual clue.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34290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Character literal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651760"/>
            <a:ext cx="1188720" cy="822960"/>
          </a:xfrm>
          <a:prstGeom prst="roundRect">
            <a:avLst/>
          </a:prstGeom>
          <a:solidFill>
            <a:srgbClr val="3FAA7E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300" b="1">
                <a:solidFill>
                  <a:srgbClr val="F8FAFD"/>
                </a:solidFill>
                <a:latin typeface="Aptos"/>
              </a:rPr>
              <a:t>'A'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697480"/>
            <a:ext cx="24688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0">
                <a:solidFill>
                  <a:srgbClr val="232D41"/>
                </a:solidFill>
                <a:latin typeface="Aptos"/>
              </a:rPr>
              <a:t>Exactly one
character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977639"/>
            <a:ext cx="4389120" cy="73152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4087368"/>
            <a:ext cx="4096511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700">
                <a:solidFill>
                  <a:srgbClr val="DCE7F8"/>
                </a:solidFill>
                <a:latin typeface="Consolas"/>
              </a:defRPr>
            </a:pPr>
            <a:r>
              <a:t>char ch = 'A';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120640" cy="34290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String literal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651760"/>
            <a:ext cx="594360" cy="822960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2651760"/>
            <a:ext cx="594360" cy="822960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651760"/>
            <a:ext cx="594360" cy="822960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697480"/>
            <a:ext cx="20116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0">
                <a:solidFill>
                  <a:srgbClr val="232D41"/>
                </a:solidFill>
                <a:latin typeface="Aptos"/>
              </a:rPr>
              <a:t>Text
(sequence)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977639"/>
            <a:ext cx="4389120" cy="73152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4087368"/>
            <a:ext cx="4096511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700">
                <a:solidFill>
                  <a:srgbClr val="DCE7F8"/>
                </a:solidFill>
                <a:latin typeface="Consolas"/>
              </a:defRPr>
            </a:pPr>
            <a:r>
              <a:t>string s = "A";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2. Character arrays: characters in slots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A C-style character array stores characters in a fixed-size array.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4663440" cy="105156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64207"/>
            <a:ext cx="4370831" cy="832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900">
                <a:solidFill>
                  <a:srgbClr val="DCE7F8"/>
                </a:solidFill>
                <a:latin typeface="Consolas"/>
              </a:defRPr>
            </a:pPr>
            <a:r>
              <a:t>char word[] = "CAT";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44805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14203A"/>
                </a:solidFill>
                <a:latin typeface="Aptos"/>
              </a:rPr>
              <a:t>C++ adds a special end marker: '\0'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657600"/>
            <a:ext cx="914400" cy="82296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900" b="1">
                <a:solidFill>
                  <a:srgbClr val="F8FAFD"/>
                </a:solidFill>
                <a:latin typeface="Aptos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914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0">
                <a:solidFill>
                  <a:srgbClr val="66738A"/>
                </a:solidFill>
                <a:latin typeface="Aptos"/>
              </a:rPr>
              <a:t>index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3657600"/>
            <a:ext cx="914400" cy="82296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900" b="1">
                <a:solidFill>
                  <a:srgbClr val="F8FAFD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4526280"/>
            <a:ext cx="914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0">
                <a:solidFill>
                  <a:srgbClr val="66738A"/>
                </a:solidFill>
                <a:latin typeface="Aptos"/>
              </a:rPr>
              <a:t>index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657600"/>
            <a:ext cx="914400" cy="82296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900" b="1">
                <a:solidFill>
                  <a:srgbClr val="F8FAFD"/>
                </a:solidFill>
                <a:latin typeface="Aptos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526280"/>
            <a:ext cx="914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0">
                <a:solidFill>
                  <a:srgbClr val="66738A"/>
                </a:solidFill>
                <a:latin typeface="Aptos"/>
              </a:rPr>
              <a:t>index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657600"/>
            <a:ext cx="914400" cy="822960"/>
          </a:xfrm>
          <a:prstGeom prst="roundRect">
            <a:avLst/>
          </a:prstGeom>
          <a:solidFill>
            <a:srgbClr val="DC555B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900" b="1">
                <a:solidFill>
                  <a:srgbClr val="F8FAFD"/>
                </a:solidFill>
                <a:latin typeface="Aptos"/>
              </a:rPr>
              <a:t>\0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526280"/>
            <a:ext cx="914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0">
                <a:solidFill>
                  <a:srgbClr val="66738A"/>
                </a:solidFill>
                <a:latin typeface="Aptos"/>
              </a:rPr>
              <a:t>index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645920"/>
            <a:ext cx="5120640" cy="32004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965960"/>
            <a:ext cx="43891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Why the extra slot?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60320"/>
            <a:ext cx="4389120" cy="1828800"/>
          </a:xfrm>
          <a:prstGeom prst="rect">
            <a:avLst/>
          </a:prstGeom>
          <a:noFill/>
        </p:spPr>
        <p:txBody>
          <a:bodyPr wrap="square" lIns="73152" rIns="54864" tIns="54864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41"/>
                </a:solidFill>
                <a:latin typeface="Aptos"/>
              </a:defRPr>
            </a:pPr>
            <a:r>
              <a:t>The null character '\0' marks the end.</a:t>
            </a:r>
          </a:p>
          <a:p>
            <a:pPr>
              <a:spcAft>
                <a:spcPts val="1000"/>
              </a:spcAft>
              <a:defRPr sz="1600">
                <a:solidFill>
                  <a:srgbClr val="232D41"/>
                </a:solidFill>
                <a:latin typeface="Aptos"/>
              </a:defRPr>
            </a:pPr>
            <a:r>
              <a:t>It is not the same as the character '0'.</a:t>
            </a:r>
          </a:p>
          <a:p>
            <a:pPr>
              <a:spcAft>
                <a:spcPts val="1000"/>
              </a:spcAft>
              <a:defRPr sz="1600">
                <a:solidFill>
                  <a:srgbClr val="232D41"/>
                </a:solidFill>
                <a:latin typeface="Aptos"/>
              </a:defRPr>
            </a:pPr>
            <a:r>
              <a:t>For "CAT", 4 slots are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Simulation: how "CAT" lives in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Trace the array from left to right. The final slot tells C-style functions to stop.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325880" cy="100584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400" b="1">
                <a:solidFill>
                  <a:srgbClr val="F8FAFD"/>
                </a:solidFill>
                <a:latin typeface="Apto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1417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66738A"/>
                </a:solidFill>
                <a:latin typeface="Aptos"/>
              </a:rPr>
              <a:t>word[0]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331720"/>
            <a:ext cx="365760" cy="0"/>
          </a:xfrm>
          <a:prstGeom prst="line">
            <a:avLst/>
          </a:prstGeom>
          <a:ln w="25400">
            <a:solidFill>
              <a:srgbClr val="4AC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0" y="1828800"/>
            <a:ext cx="1325880" cy="100584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400" b="1">
                <a:solidFill>
                  <a:srgbClr val="F8FAFD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926080"/>
            <a:ext cx="1417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66738A"/>
                </a:solidFill>
                <a:latin typeface="Aptos"/>
              </a:rPr>
              <a:t>word[1]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2331720"/>
            <a:ext cx="365760" cy="0"/>
          </a:xfrm>
          <a:prstGeom prst="line">
            <a:avLst/>
          </a:prstGeom>
          <a:ln w="25400">
            <a:solidFill>
              <a:srgbClr val="4AC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1828800"/>
            <a:ext cx="1325880" cy="100584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400" b="1">
                <a:solidFill>
                  <a:srgbClr val="F8FAFD"/>
                </a:solidFill>
                <a:latin typeface="Aptos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926080"/>
            <a:ext cx="1417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66738A"/>
                </a:solidFill>
                <a:latin typeface="Aptos"/>
              </a:rPr>
              <a:t>word[2]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2331720"/>
            <a:ext cx="365760" cy="0"/>
          </a:xfrm>
          <a:prstGeom prst="line">
            <a:avLst/>
          </a:prstGeom>
          <a:ln w="25400">
            <a:solidFill>
              <a:srgbClr val="4AC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0" y="1828800"/>
            <a:ext cx="1325880" cy="1005840"/>
          </a:xfrm>
          <a:prstGeom prst="roundRect">
            <a:avLst/>
          </a:prstGeom>
          <a:solidFill>
            <a:srgbClr val="DC555B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400" b="1">
                <a:solidFill>
                  <a:srgbClr val="F8FAFD"/>
                </a:solidFill>
                <a:latin typeface="Aptos"/>
              </a:rPr>
              <a:t>\0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26080"/>
            <a:ext cx="1417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66738A"/>
                </a:solidFill>
                <a:latin typeface="Aptos"/>
              </a:rPr>
              <a:t>word[3]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94760"/>
            <a:ext cx="9784080" cy="11430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041648"/>
            <a:ext cx="91440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>
                <a:solidFill>
                  <a:srgbClr val="14203A"/>
                </a:solidFill>
                <a:latin typeface="Aptos"/>
              </a:rPr>
              <a:t>word[0] → word[1] → word[2] → word[3] = end of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57800"/>
            <a:ext cx="98755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DC555B"/>
                </a:solidFill>
                <a:latin typeface="Aptos"/>
              </a:rPr>
              <a:t>Common bug: if the array is too small, there is no room for '\0'.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3. The modern C++ 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For most beginner problems, prefer std::string over C-style character arrays.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4937760" cy="137160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755648"/>
            <a:ext cx="4645152" cy="1152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CE7F8"/>
                </a:solidFill>
                <a:latin typeface="Consolas"/>
              </a:defRPr>
            </a:pPr>
            <a:r>
              <a:t>#include &lt;string&gt;</a:t>
            </a:r>
          </a:p>
          <a:p>
            <a:pPr>
              <a:spcAft>
                <a:spcPts val="200"/>
              </a:spcAft>
              <a:defRPr sz="1800">
                <a:solidFill>
                  <a:srgbClr val="DCE7F8"/>
                </a:solidFill>
                <a:latin typeface="Consolas"/>
              </a:defRPr>
            </a:pPr>
            <a:r>
              <a:t>string name = "Maya";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383280"/>
            <a:ext cx="4937760" cy="132588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448056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14203A"/>
                </a:solidFill>
                <a:latin typeface="Aptos"/>
              </a:rPr>
              <a:t>No need to manually add '\0' or count array slots.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120640" cy="32004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4805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String as a row of characters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43200"/>
            <a:ext cx="777240" cy="82296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39312"/>
            <a:ext cx="7772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0">
                <a:solidFill>
                  <a:srgbClr val="66738A"/>
                </a:solidFill>
                <a:latin typeface="Aptos"/>
              </a:rP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2743200"/>
            <a:ext cx="777240" cy="822960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639312"/>
            <a:ext cx="7772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0">
                <a:solidFill>
                  <a:srgbClr val="66738A"/>
                </a:solidFill>
                <a:latin typeface="Aptos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2743200"/>
            <a:ext cx="777240" cy="82296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639312"/>
            <a:ext cx="7772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0">
                <a:solidFill>
                  <a:srgbClr val="66738A"/>
                </a:solidFill>
                <a:latin typeface="Aptos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2743200"/>
            <a:ext cx="777240" cy="822960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639312"/>
            <a:ext cx="7772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0">
                <a:solidFill>
                  <a:srgbClr val="66738A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160520"/>
            <a:ext cx="3931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0">
                <a:solidFill>
                  <a:srgbClr val="232D41"/>
                </a:solidFill>
                <a:latin typeface="Aptos"/>
              </a:rPr>
              <a:t>name[0] is 'M'; name[3] is 'a'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Reading text: cin vs getline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This is one of the most common beginner surprises.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338328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4805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cin &gt;&gt;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514600"/>
            <a:ext cx="4480560" cy="105156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2624328"/>
            <a:ext cx="4187952" cy="832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700">
                <a:solidFill>
                  <a:srgbClr val="DCE7F8"/>
                </a:solidFill>
                <a:latin typeface="Consolas"/>
              </a:defRPr>
            </a:pPr>
            <a:r>
              <a:t>string name;</a:t>
            </a:r>
          </a:p>
          <a:p>
            <a:pPr>
              <a:spcAft>
                <a:spcPts val="200"/>
              </a:spcAft>
              <a:defRPr sz="1700">
                <a:solidFill>
                  <a:srgbClr val="DCE7F8"/>
                </a:solidFill>
                <a:latin typeface="Consolas"/>
              </a:defRPr>
            </a:pPr>
            <a:r>
              <a:t>cin &gt;&gt; name;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448056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600" b="1">
                <a:solidFill>
                  <a:srgbClr val="DC555B"/>
                </a:solidFill>
                <a:latin typeface="Aptos"/>
              </a:rPr>
              <a:t>Input: "Maya Singh"
Stored: "Maya"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120640" cy="338328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44805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getline(cin, name)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514600"/>
            <a:ext cx="4480560" cy="105156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2624328"/>
            <a:ext cx="4187952" cy="832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700">
                <a:solidFill>
                  <a:srgbClr val="DCE7F8"/>
                </a:solidFill>
                <a:latin typeface="Consolas"/>
              </a:defRPr>
            </a:pPr>
            <a:r>
              <a:t>string name;</a:t>
            </a:r>
          </a:p>
          <a:p>
            <a:pPr>
              <a:spcAft>
                <a:spcPts val="200"/>
              </a:spcAft>
              <a:defRPr sz="1700">
                <a:solidFill>
                  <a:srgbClr val="DCE7F8"/>
                </a:solidFill>
                <a:latin typeface="Consolas"/>
              </a:defRPr>
            </a:pPr>
            <a:r>
              <a:t>getline(cin, name);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80"/>
            <a:ext cx="448056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600" b="1">
                <a:solidFill>
                  <a:srgbClr val="3FAA7E"/>
                </a:solidFill>
                <a:latin typeface="Aptos"/>
              </a:rPr>
              <a:t>Input: "Maya Singh"
Stored: "Maya Singh"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14203A"/>
                </a:solidFill>
                <a:latin typeface="Aptos"/>
              </a:rPr>
              <a:t>Rule: &gt;&gt; stops at whitespace. getline reads the whole 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Access characters using an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Indexes start at 0 — just like arrays.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297680" cy="109728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09928"/>
            <a:ext cx="4005072" cy="877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700">
                <a:solidFill>
                  <a:srgbClr val="DCE7F8"/>
                </a:solidFill>
                <a:latin typeface="Consolas"/>
              </a:defRPr>
            </a:pPr>
            <a:r>
              <a:t>string s = "CODE";</a:t>
            </a:r>
          </a:p>
          <a:p>
            <a:pPr>
              <a:spcAft>
                <a:spcPts val="200"/>
              </a:spcAft>
              <a:defRPr sz="1700">
                <a:solidFill>
                  <a:srgbClr val="DCE7F8"/>
                </a:solidFill>
                <a:latin typeface="Consolas"/>
              </a:defRPr>
            </a:pPr>
            <a:r>
              <a:t>cout &lt;&lt; s[0];  //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914400" cy="914400"/>
          </a:xfrm>
          <a:prstGeom prst="roundRect">
            <a:avLst/>
          </a:prstGeom>
          <a:solidFill>
            <a:srgbClr val="3FAA7E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400" b="1">
                <a:solidFill>
                  <a:srgbClr val="F8FAFD"/>
                </a:solidFill>
                <a:latin typeface="Aptos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834640"/>
            <a:ext cx="914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66738A"/>
                </a:solidFill>
                <a:latin typeface="Aptos"/>
              </a:rPr>
              <a:t>index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828800"/>
            <a:ext cx="914400" cy="91440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400" b="1">
                <a:solidFill>
                  <a:srgbClr val="F8FAFD"/>
                </a:solidFill>
                <a:latin typeface="Aptos"/>
              </a:rPr>
              <a:t>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834640"/>
            <a:ext cx="914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66738A"/>
                </a:solidFill>
                <a:latin typeface="Aptos"/>
              </a:rPr>
              <a:t>index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828800"/>
            <a:ext cx="914400" cy="91440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400" b="1">
                <a:solidFill>
                  <a:srgbClr val="F8FAFD"/>
                </a:solidFill>
                <a:latin typeface="Aptos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834640"/>
            <a:ext cx="914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66738A"/>
                </a:solidFill>
                <a:latin typeface="Aptos"/>
              </a:rPr>
              <a:t>index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828800"/>
            <a:ext cx="914400" cy="91440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400" b="1">
                <a:solidFill>
                  <a:srgbClr val="F8FAFD"/>
                </a:solidFill>
                <a:latin typeface="Aptos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834640"/>
            <a:ext cx="914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66738A"/>
                </a:solidFill>
                <a:latin typeface="Aptos"/>
              </a:rPr>
              <a:t>index 3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943600" y="2971800"/>
            <a:ext cx="0" cy="685800"/>
          </a:xfrm>
          <a:prstGeom prst="line">
            <a:avLst/>
          </a:prstGeom>
          <a:ln w="25400">
            <a:solidFill>
              <a:srgbClr val="DC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20640" y="3840480"/>
            <a:ext cx="1828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DC555B"/>
                </a:solidFill>
                <a:latin typeface="Aptos"/>
              </a:rPr>
              <a:t>s[0] = 'C'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00600"/>
            <a:ext cx="103327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14203A"/>
                </a:solidFill>
                <a:latin typeface="Aptos"/>
              </a:rPr>
              <a:t>Valid indexes for a string of length n: 0 through n - 1.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Find the length: s.length() or s.size()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Both return the number of characters in a std::string.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206240" cy="123444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09928"/>
            <a:ext cx="3913631" cy="1014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CE7F8"/>
                </a:solidFill>
                <a:latin typeface="Consolas"/>
              </a:defRPr>
            </a:pPr>
            <a:r>
              <a:t>string s = "CODE";</a:t>
            </a:r>
          </a:p>
          <a:p>
            <a:pPr>
              <a:spcAft>
                <a:spcPts val="200"/>
              </a:spcAft>
              <a:defRPr sz="1800">
                <a:solidFill>
                  <a:srgbClr val="DCE7F8"/>
                </a:solidFill>
                <a:latin typeface="Consolas"/>
              </a:defRPr>
            </a:pPr>
            <a:r>
              <a:t>cout &lt;&lt; s.size();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4114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900" b="1">
                <a:solidFill>
                  <a:srgbClr val="3FAA7E"/>
                </a:solidFill>
                <a:latin typeface="Aptos"/>
              </a:rPr>
              <a:t>Output: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965960"/>
            <a:ext cx="914400" cy="86868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926080"/>
            <a:ext cx="9144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0">
                <a:solidFill>
                  <a:srgbClr val="66738A"/>
                </a:solidFill>
                <a:latin typeface="Aptos"/>
              </a:rP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965960"/>
            <a:ext cx="914400" cy="86868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926080"/>
            <a:ext cx="9144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0">
                <a:solidFill>
                  <a:srgbClr val="66738A"/>
                </a:solidFill>
                <a:latin typeface="Aptos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965960"/>
            <a:ext cx="914400" cy="86868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926080"/>
            <a:ext cx="9144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0">
                <a:solidFill>
                  <a:srgbClr val="66738A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965960"/>
            <a:ext cx="914400" cy="86868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926080"/>
            <a:ext cx="9144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0">
                <a:solidFill>
                  <a:srgbClr val="66738A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657600"/>
            <a:ext cx="4754880" cy="9144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3886200"/>
            <a:ext cx="42976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4203A"/>
                </a:solidFill>
                <a:latin typeface="Aptos"/>
              </a:rPr>
              <a:t>4 characters → length is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102412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DC555B"/>
                </a:solidFill>
                <a:latin typeface="Aptos"/>
              </a:rPr>
              <a:t>Careful: the last index is length - 1, not length.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Algorithm simulation: visit every character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A loop lets us process each character one by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4389120" cy="201168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664207"/>
            <a:ext cx="4096511" cy="1792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string s = "CAT";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for (int i = 0; i &lt; s.size(); i++) {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    cout &lt;&lt; s[i] &lt;&lt; " ";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4114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3FAA7E"/>
                </a:solidFill>
                <a:latin typeface="Aptos"/>
              </a:rPr>
              <a:t>Output: C A 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874519"/>
            <a:ext cx="1005840" cy="91440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400" b="1">
                <a:solidFill>
                  <a:srgbClr val="F8FAFD"/>
                </a:solidFill>
                <a:latin typeface="Aptos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880360"/>
            <a:ext cx="10058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66738A"/>
                </a:solidFill>
                <a:latin typeface="Aptos"/>
              </a:rPr>
              <a:t>i = 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2331720"/>
            <a:ext cx="228600" cy="0"/>
          </a:xfrm>
          <a:prstGeom prst="line">
            <a:avLst/>
          </a:prstGeom>
          <a:ln w="25400">
            <a:solidFill>
              <a:srgbClr val="4AC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12280" y="1874519"/>
            <a:ext cx="1005840" cy="91440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400" b="1">
                <a:solidFill>
                  <a:srgbClr val="F8FAFD"/>
                </a:solidFill>
                <a:latin typeface="Apto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880360"/>
            <a:ext cx="10058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66738A"/>
                </a:solidFill>
                <a:latin typeface="Aptos"/>
              </a:rPr>
              <a:t>i = 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63840" y="2331720"/>
            <a:ext cx="228600" cy="0"/>
          </a:xfrm>
          <a:prstGeom prst="line">
            <a:avLst/>
          </a:prstGeom>
          <a:ln w="25400">
            <a:solidFill>
              <a:srgbClr val="4AC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60" y="1874519"/>
            <a:ext cx="1005840" cy="91440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400" b="1">
                <a:solidFill>
                  <a:srgbClr val="F8FAFD"/>
                </a:solidFill>
                <a:latin typeface="Aptos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880360"/>
            <a:ext cx="10058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66738A"/>
                </a:solidFill>
                <a:latin typeface="Aptos"/>
              </a:rPr>
              <a:t>i =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3657600"/>
            <a:ext cx="5029200" cy="11430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3886200"/>
            <a:ext cx="45720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4203A"/>
                </a:solidFill>
                <a:latin typeface="Aptos"/>
              </a:rPr>
              <a:t>Loop steps: 0 → 1 → 2 → stop at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Modify a character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A string is mutable: characters can be changed by index.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297680" cy="146304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09928"/>
            <a:ext cx="4005072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CE7F8"/>
                </a:solidFill>
                <a:latin typeface="Consolas"/>
              </a:defRPr>
            </a:pPr>
            <a:r>
              <a:t>string s = "cat";</a:t>
            </a:r>
          </a:p>
          <a:p>
            <a:pPr>
              <a:spcAft>
                <a:spcPts val="200"/>
              </a:spcAft>
              <a:defRPr sz="1800">
                <a:solidFill>
                  <a:srgbClr val="DCE7F8"/>
                </a:solidFill>
                <a:latin typeface="Consolas"/>
              </a:defRPr>
            </a:pPr>
            <a:r>
              <a:t>s[0] = 'b';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38404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900" b="1">
                <a:solidFill>
                  <a:srgbClr val="3FAA7E"/>
                </a:solidFill>
                <a:latin typeface="Aptos"/>
              </a:rPr>
              <a:t>Result: "bat"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91640"/>
            <a:ext cx="50292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66738A"/>
                </a:solidFill>
                <a:latin typeface="Aptos"/>
              </a:rPr>
              <a:t>Before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194560"/>
            <a:ext cx="914400" cy="82296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194560"/>
            <a:ext cx="914400" cy="82296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194560"/>
            <a:ext cx="914400" cy="82296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337560"/>
            <a:ext cx="50292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66738A"/>
                </a:solidFill>
                <a:latin typeface="Aptos"/>
              </a:rPr>
              <a:t>After s[0] = 'b'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3840480"/>
            <a:ext cx="914400" cy="822960"/>
          </a:xfrm>
          <a:prstGeom prst="roundRect">
            <a:avLst/>
          </a:prstGeom>
          <a:solidFill>
            <a:srgbClr val="3FAA7E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3840480"/>
            <a:ext cx="914400" cy="82296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840480"/>
            <a:ext cx="914400" cy="82296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0" y="3108960"/>
            <a:ext cx="0" cy="594360"/>
          </a:xfrm>
          <a:prstGeom prst="line">
            <a:avLst/>
          </a:prstGeom>
          <a:ln w="25400">
            <a:solidFill>
              <a:srgbClr val="DC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Useful string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These operations appear frequently in beginner coding problems.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66360" cy="16002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14203A"/>
                </a:solidFill>
                <a:latin typeface="Aptos"/>
              </a:rPr>
              <a:t>Join / append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167128"/>
            <a:ext cx="3108960" cy="658368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276856"/>
            <a:ext cx="2816352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DCE7F8"/>
                </a:solidFill>
                <a:latin typeface="Consolas"/>
              </a:defRPr>
            </a:pPr>
            <a:r>
              <a:t>s += "!"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286000"/>
            <a:ext cx="13258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3FAA7E"/>
                </a:solidFill>
                <a:latin typeface="Aptos"/>
              </a:rPr>
              <a:t>hello!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00200"/>
            <a:ext cx="5166360" cy="16002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746504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14203A"/>
                </a:solidFill>
                <a:latin typeface="Aptos"/>
              </a:rPr>
              <a:t>Add at 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6248" y="2167128"/>
            <a:ext cx="3108960" cy="658368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2276856"/>
            <a:ext cx="2816352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DCE7F8"/>
                </a:solidFill>
                <a:latin typeface="Consolas"/>
              </a:defRPr>
            </a:pPr>
            <a:r>
              <a:t>s.push_back('x')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286000"/>
            <a:ext cx="13258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3FAA7E"/>
                </a:solidFill>
                <a:latin typeface="Aptos"/>
              </a:rPr>
              <a:t>hellox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5166360" cy="16002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712463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14203A"/>
                </a:solidFill>
                <a:latin typeface="Aptos"/>
              </a:rPr>
              <a:t>Remove last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4133087"/>
            <a:ext cx="3108960" cy="658368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242816"/>
            <a:ext cx="2816352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DCE7F8"/>
                </a:solidFill>
                <a:latin typeface="Consolas"/>
              </a:defRPr>
            </a:pPr>
            <a:r>
              <a:t>s.pop_back()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251960"/>
            <a:ext cx="13258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3FAA7E"/>
                </a:solidFill>
                <a:latin typeface="Aptos"/>
              </a:rPr>
              <a:t>hell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566160"/>
            <a:ext cx="5166360" cy="16002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3712463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14203A"/>
                </a:solidFill>
                <a:latin typeface="Aptos"/>
              </a:rPr>
              <a:t>Substring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6248" y="4133087"/>
            <a:ext cx="3108960" cy="658368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2552" y="4242816"/>
            <a:ext cx="2816352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DCE7F8"/>
                </a:solidFill>
                <a:latin typeface="Consolas"/>
              </a:defRPr>
            </a:pPr>
            <a:r>
              <a:t>s.substr(1, 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251960"/>
            <a:ext cx="13258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3FAA7E"/>
                </a:solidFill>
                <a:latin typeface="Aptos"/>
              </a:rPr>
              <a:t>ell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Algorithm simulation: reverse a 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Two pointers swap the outside characters and move inward.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4389120" cy="192024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618488"/>
            <a:ext cx="4096511" cy="1700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DCE7F8"/>
                </a:solidFill>
                <a:latin typeface="Consolas"/>
              </a:defRPr>
            </a:pPr>
            <a:r>
              <a:t>string s = "CODE";</a:t>
            </a:r>
          </a:p>
          <a:p>
            <a:pPr>
              <a:spcAft>
                <a:spcPts val="200"/>
              </a:spcAft>
              <a:defRPr sz="1400">
                <a:solidFill>
                  <a:srgbClr val="DCE7F8"/>
                </a:solidFill>
                <a:latin typeface="Consolas"/>
              </a:defRPr>
            </a:pPr>
            <a:r>
              <a:t>int l = 0, r = s.size() - 1;</a:t>
            </a:r>
          </a:p>
          <a:p>
            <a:pPr>
              <a:spcAft>
                <a:spcPts val="200"/>
              </a:spcAft>
              <a:defRPr sz="1400">
                <a:solidFill>
                  <a:srgbClr val="DCE7F8"/>
                </a:solidFill>
                <a:latin typeface="Consolas"/>
              </a:defRPr>
            </a:pPr>
            <a:r>
              <a:t>while (l &lt; r) {</a:t>
            </a:r>
          </a:p>
          <a:p>
            <a:pPr>
              <a:spcAft>
                <a:spcPts val="200"/>
              </a:spcAft>
              <a:defRPr sz="1400">
                <a:solidFill>
                  <a:srgbClr val="DCE7F8"/>
                </a:solidFill>
                <a:latin typeface="Consolas"/>
              </a:defRPr>
            </a:pPr>
            <a:r>
              <a:t>    swap(s[l], s[r]);</a:t>
            </a:r>
          </a:p>
          <a:p>
            <a:pPr>
              <a:spcAft>
                <a:spcPts val="200"/>
              </a:spcAft>
              <a:defRPr sz="1400">
                <a:solidFill>
                  <a:srgbClr val="DCE7F8"/>
                </a:solidFill>
                <a:latin typeface="Consolas"/>
              </a:defRPr>
            </a:pPr>
            <a:r>
              <a:t>    l++; r--;</a:t>
            </a:r>
          </a:p>
          <a:p>
            <a:pPr>
              <a:spcAft>
                <a:spcPts val="200"/>
              </a:spcAft>
              <a:defRPr sz="1400">
                <a:solidFill>
                  <a:srgbClr val="DCE7F8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3840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3FAA7E"/>
                </a:solidFill>
                <a:latin typeface="Aptos"/>
              </a:rPr>
              <a:t>Final result: "EDOC"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554480"/>
            <a:ext cx="4846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14203A"/>
                </a:solidFill>
                <a:latin typeface="Aptos"/>
              </a:rPr>
              <a:t>Start: l = 0, r =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103120"/>
            <a:ext cx="822960" cy="777240"/>
          </a:xfrm>
          <a:prstGeom prst="roundRect">
            <a:avLst/>
          </a:prstGeom>
          <a:solidFill>
            <a:srgbClr val="DC555B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103120"/>
            <a:ext cx="822960" cy="77724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103120"/>
            <a:ext cx="822960" cy="77724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2103120"/>
            <a:ext cx="822960" cy="777240"/>
          </a:xfrm>
          <a:prstGeom prst="roundRect">
            <a:avLst/>
          </a:prstGeom>
          <a:solidFill>
            <a:srgbClr val="DC555B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7880" y="3017520"/>
            <a:ext cx="3063240" cy="0"/>
          </a:xfrm>
          <a:prstGeom prst="line">
            <a:avLst/>
          </a:prstGeom>
          <a:ln w="38100">
            <a:solidFill>
              <a:srgbClr val="FFC7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0" y="3246120"/>
            <a:ext cx="4846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66738A"/>
                </a:solidFill>
                <a:latin typeface="Aptos"/>
              </a:rPr>
              <a:t>Swap C ↔ 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3749039"/>
            <a:ext cx="822960" cy="777240"/>
          </a:xfrm>
          <a:prstGeom prst="roundRect">
            <a:avLst/>
          </a:prstGeom>
          <a:solidFill>
            <a:srgbClr val="3FAA7E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749039"/>
            <a:ext cx="822960" cy="77724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749039"/>
            <a:ext cx="822960" cy="77724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3749039"/>
            <a:ext cx="822960" cy="777240"/>
          </a:xfrm>
          <a:prstGeom prst="roundRect">
            <a:avLst/>
          </a:prstGeom>
          <a:solidFill>
            <a:srgbClr val="3FAA7E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2200" b="1">
                <a:solidFill>
                  <a:srgbClr val="F8FAFD"/>
                </a:solidFill>
                <a:latin typeface="Aptos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709160"/>
            <a:ext cx="47548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600" b="1">
                <a:solidFill>
                  <a:srgbClr val="14203A"/>
                </a:solidFill>
                <a:latin typeface="Aptos"/>
              </a:rPr>
              <a:t>Then swap O ↔ D → "EDOC"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Compare and search 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Strings can be compared, and find() can search for a piece of text.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66360" cy="347472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4805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Comparison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423160"/>
            <a:ext cx="4480560" cy="109728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2532888"/>
            <a:ext cx="4187952" cy="877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string a = "cat";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string b = "cat";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cout &lt;&lt; (a == b);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44805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3FAA7E"/>
                </a:solidFill>
                <a:latin typeface="Aptos"/>
              </a:rPr>
              <a:t>Output: 1 (true)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166360" cy="347472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44805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423160"/>
            <a:ext cx="4480560" cy="109728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2532888"/>
            <a:ext cx="4187952" cy="877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string s = "bootcamp";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cout &lt;&lt; s.find("camp");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86200"/>
            <a:ext cx="44805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3FAA7E"/>
                </a:solidFill>
                <a:latin typeface="Aptos"/>
              </a:rPr>
              <a:t>Output: 4 (starting index)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49240"/>
            <a:ext cx="105156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600" b="1">
                <a:solidFill>
                  <a:srgbClr val="DC555B"/>
                </a:solidFill>
                <a:latin typeface="Aptos"/>
              </a:rPr>
              <a:t>If find() cannot find the text, it returns string::npos.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Character array vs std::string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Use this as a quick decision guide.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2103120" cy="566928"/>
          </a:xfrm>
          <a:prstGeom prst="roundRect">
            <a:avLst/>
          </a:prstGeom>
          <a:solidFill>
            <a:srgbClr val="14203A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>
                <a:solidFill>
                  <a:srgbClr val="F8FAFD"/>
                </a:solidFill>
                <a:latin typeface="Aptos"/>
              </a:rPr>
              <a:t>Feature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600200"/>
            <a:ext cx="3291840" cy="566928"/>
          </a:xfrm>
          <a:prstGeom prst="roundRect">
            <a:avLst/>
          </a:prstGeom>
          <a:solidFill>
            <a:srgbClr val="14203A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>
                <a:solidFill>
                  <a:srgbClr val="F8FAFD"/>
                </a:solidFill>
                <a:latin typeface="Aptos"/>
              </a:rPr>
              <a:t>char[]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3657600" cy="566928"/>
          </a:xfrm>
          <a:prstGeom prst="roundRect">
            <a:avLst/>
          </a:prstGeom>
          <a:solidFill>
            <a:srgbClr val="14203A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>
                <a:solidFill>
                  <a:srgbClr val="F8FAFD"/>
                </a:solidFill>
                <a:latin typeface="Aptos"/>
              </a:rPr>
              <a:t>std::string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40280"/>
            <a:ext cx="2103120" cy="566928"/>
          </a:xfrm>
          <a:prstGeom prst="roundRect">
            <a:avLst/>
          </a:prstGeom>
          <a:solidFill>
            <a:srgbClr val="E8EFFA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00" b="1">
                <a:solidFill>
                  <a:srgbClr val="14203A"/>
                </a:solidFill>
                <a:latin typeface="Aptos"/>
              </a:rPr>
              <a:t>Size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2240280"/>
            <a:ext cx="3291840" cy="566928"/>
          </a:xfrm>
          <a:prstGeom prst="roundRect">
            <a:avLst/>
          </a:prstGeom>
          <a:solidFill>
            <a:srgbClr val="EBF0FA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00" b="0">
                <a:solidFill>
                  <a:srgbClr val="232D41"/>
                </a:solidFill>
                <a:latin typeface="Aptos"/>
              </a:rPr>
              <a:t>Fixed after creation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240280"/>
            <a:ext cx="3657600" cy="566928"/>
          </a:xfrm>
          <a:prstGeom prst="roundRect">
            <a:avLst/>
          </a:prstGeom>
          <a:solidFill>
            <a:srgbClr val="E2F6EF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00" b="0">
                <a:solidFill>
                  <a:srgbClr val="232D41"/>
                </a:solidFill>
                <a:latin typeface="Aptos"/>
              </a:rPr>
              <a:t>Can grow / shrink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53512"/>
            <a:ext cx="2103120" cy="566928"/>
          </a:xfrm>
          <a:prstGeom prst="roundRect">
            <a:avLst/>
          </a:prstGeom>
          <a:solidFill>
            <a:srgbClr val="E8EFFA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00" b="1">
                <a:solidFill>
                  <a:srgbClr val="14203A"/>
                </a:solidFill>
                <a:latin typeface="Aptos"/>
              </a:rPr>
              <a:t>End marker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2953512"/>
            <a:ext cx="3291840" cy="566928"/>
          </a:xfrm>
          <a:prstGeom prst="roundRect">
            <a:avLst/>
          </a:prstGeom>
          <a:solidFill>
            <a:srgbClr val="EBF0FA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00" b="0">
                <a:solidFill>
                  <a:srgbClr val="232D41"/>
                </a:solidFill>
                <a:latin typeface="Aptos"/>
              </a:rPr>
              <a:t>Uses '\0'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953512"/>
            <a:ext cx="3657600" cy="566928"/>
          </a:xfrm>
          <a:prstGeom prst="roundRect">
            <a:avLst/>
          </a:prstGeom>
          <a:solidFill>
            <a:srgbClr val="E2F6EF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00" b="0">
                <a:solidFill>
                  <a:srgbClr val="232D41"/>
                </a:solidFill>
                <a:latin typeface="Aptos"/>
              </a:rPr>
              <a:t>Managed for you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66744"/>
            <a:ext cx="2103120" cy="566928"/>
          </a:xfrm>
          <a:prstGeom prst="roundRect">
            <a:avLst/>
          </a:prstGeom>
          <a:solidFill>
            <a:srgbClr val="E8EFFA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00" b="1">
                <a:solidFill>
                  <a:srgbClr val="14203A"/>
                </a:solidFill>
                <a:latin typeface="Aptos"/>
              </a:rPr>
              <a:t>Convenience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3666744"/>
            <a:ext cx="3291840" cy="566928"/>
          </a:xfrm>
          <a:prstGeom prst="roundRect">
            <a:avLst/>
          </a:prstGeom>
          <a:solidFill>
            <a:srgbClr val="EBF0FA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00" b="0">
                <a:solidFill>
                  <a:srgbClr val="232D41"/>
                </a:solidFill>
                <a:latin typeface="Aptos"/>
              </a:rPr>
              <a:t>More manual 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666744"/>
            <a:ext cx="3657600" cy="566928"/>
          </a:xfrm>
          <a:prstGeom prst="roundRect">
            <a:avLst/>
          </a:prstGeom>
          <a:solidFill>
            <a:srgbClr val="E2F6EF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00" b="0">
                <a:solidFill>
                  <a:srgbClr val="232D41"/>
                </a:solidFill>
                <a:latin typeface="Aptos"/>
              </a:rPr>
              <a:t>Many built-in methods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79976"/>
            <a:ext cx="2103120" cy="566928"/>
          </a:xfrm>
          <a:prstGeom prst="roundRect">
            <a:avLst/>
          </a:prstGeom>
          <a:solidFill>
            <a:srgbClr val="E8EFFA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00" b="1">
                <a:solidFill>
                  <a:srgbClr val="14203A"/>
                </a:solidFill>
                <a:latin typeface="Aptos"/>
              </a:rPr>
              <a:t>Beginner 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4379976"/>
            <a:ext cx="3291840" cy="566928"/>
          </a:xfrm>
          <a:prstGeom prst="roundRect">
            <a:avLst/>
          </a:prstGeom>
          <a:solidFill>
            <a:srgbClr val="EBF0FA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00" b="0">
                <a:solidFill>
                  <a:srgbClr val="232D41"/>
                </a:solidFill>
                <a:latin typeface="Aptos"/>
              </a:rPr>
              <a:t>Learn the concept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379976"/>
            <a:ext cx="3657600" cy="566928"/>
          </a:xfrm>
          <a:prstGeom prst="roundRect">
            <a:avLst/>
          </a:prstGeom>
          <a:solidFill>
            <a:srgbClr val="E2F6EF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300" b="0">
                <a:solidFill>
                  <a:srgbClr val="232D41"/>
                </a:solidFill>
                <a:latin typeface="Aptos"/>
              </a:rPr>
              <a:t>Usually preferred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Common mistakes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Pause here and ask students to spot the bug before revealing the fix.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698480" cy="896112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1"/>
            <a:ext cx="20116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DC555B"/>
                </a:solidFill>
                <a:latin typeface="Aptos"/>
              </a:rPr>
              <a:t>Wrong quotes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600200"/>
            <a:ext cx="32918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400" b="1">
                <a:solidFill>
                  <a:srgbClr val="14203A"/>
                </a:solidFill>
                <a:latin typeface="Aptos"/>
              </a:rPr>
              <a:t>char c = "A";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47548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400" b="1">
                <a:solidFill>
                  <a:srgbClr val="3FAA7E"/>
                </a:solidFill>
                <a:latin typeface="Aptos"/>
              </a:rPr>
              <a:t>Use: char c = 'A';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24328"/>
            <a:ext cx="10698480" cy="896112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20116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DC555B"/>
                </a:solidFill>
                <a:latin typeface="Aptos"/>
              </a:rPr>
              <a:t>Index out of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715768"/>
            <a:ext cx="32918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400" b="1">
                <a:solidFill>
                  <a:srgbClr val="14203A"/>
                </a:solidFill>
                <a:latin typeface="Aptos"/>
              </a:rPr>
              <a:t>s[s.size()]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15768"/>
            <a:ext cx="47548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400" b="1">
                <a:solidFill>
                  <a:srgbClr val="3FAA7E"/>
                </a:solidFill>
                <a:latin typeface="Aptos"/>
              </a:rPr>
              <a:t>Last valid index: s.size() - 1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39896"/>
            <a:ext cx="10698480" cy="896112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58768"/>
            <a:ext cx="20116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DC555B"/>
                </a:solidFill>
                <a:latin typeface="Aptos"/>
              </a:rPr>
              <a:t>Reading spaces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831335"/>
            <a:ext cx="32918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400" b="1">
                <a:solidFill>
                  <a:srgbClr val="14203A"/>
                </a:solidFill>
                <a:latin typeface="Aptos"/>
              </a:rPr>
              <a:t>cin &gt;&gt; fullName;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31335"/>
            <a:ext cx="47548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400" b="1">
                <a:solidFill>
                  <a:srgbClr val="3FAA7E"/>
                </a:solidFill>
                <a:latin typeface="Aptos"/>
              </a:rPr>
              <a:t>Use getline(cin, fullName) for a full 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55464"/>
            <a:ext cx="10698480" cy="896112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74336"/>
            <a:ext cx="20116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DC555B"/>
                </a:solidFill>
                <a:latin typeface="Aptos"/>
              </a:rPr>
              <a:t>Array too small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946904"/>
            <a:ext cx="32918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400" b="1">
                <a:solidFill>
                  <a:srgbClr val="14203A"/>
                </a:solidFill>
                <a:latin typeface="Aptos"/>
              </a:rPr>
              <a:t>char s[3] = "CAT";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46904"/>
            <a:ext cx="47548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400" b="1">
                <a:solidFill>
                  <a:srgbClr val="3FAA7E"/>
                </a:solidFill>
                <a:latin typeface="Aptos"/>
              </a:rPr>
              <a:t>Needs 4 slots: C, A, T, \\0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Guided practice: predict the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Give students 30–60 seconds to think, then trace each line together.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120640" cy="228600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64207"/>
            <a:ext cx="4828031" cy="2066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DCE7F8"/>
                </a:solidFill>
                <a:latin typeface="Consolas"/>
              </a:defRPr>
            </a:pPr>
            <a:r>
              <a:t>string s = "hello";</a:t>
            </a:r>
          </a:p>
          <a:p>
            <a:pPr>
              <a:spcAft>
                <a:spcPts val="200"/>
              </a:spcAft>
              <a:defRPr sz="1600">
                <a:solidFill>
                  <a:srgbClr val="DCE7F8"/>
                </a:solidFill>
                <a:latin typeface="Consolas"/>
              </a:defRPr>
            </a:pPr>
            <a:r>
              <a:t>cout &lt;&lt; s[1] &lt;&lt; "\n";</a:t>
            </a:r>
          </a:p>
          <a:p>
            <a:pPr>
              <a:spcAft>
                <a:spcPts val="200"/>
              </a:spcAft>
              <a:defRPr sz="1600">
                <a:solidFill>
                  <a:srgbClr val="DCE7F8"/>
                </a:solidFill>
                <a:latin typeface="Consolas"/>
              </a:defRPr>
            </a:pPr>
            <a:r>
              <a:t>s[0] = 'H';</a:t>
            </a:r>
          </a:p>
          <a:p>
            <a:pPr>
              <a:spcAft>
                <a:spcPts val="200"/>
              </a:spcAft>
              <a:defRPr sz="1600">
                <a:solidFill>
                  <a:srgbClr val="DCE7F8"/>
                </a:solidFill>
                <a:latin typeface="Consolas"/>
              </a:defRPr>
            </a:pPr>
            <a:r>
              <a:t>cout &lt;&lt; s &lt;&lt; "\n";</a:t>
            </a:r>
          </a:p>
          <a:p>
            <a:pPr>
              <a:spcAft>
                <a:spcPts val="200"/>
              </a:spcAft>
              <a:defRPr sz="1600">
                <a:solidFill>
                  <a:srgbClr val="DCE7F8"/>
                </a:solidFill>
                <a:latin typeface="Consolas"/>
              </a:defRPr>
            </a:pPr>
            <a:r>
              <a:t>cout &lt;&lt; s.size();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4754880" cy="228600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828800"/>
            <a:ext cx="4114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Predict the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23160"/>
            <a:ext cx="4023360" cy="1143000"/>
          </a:xfrm>
          <a:prstGeom prst="rect">
            <a:avLst/>
          </a:prstGeom>
          <a:noFill/>
        </p:spPr>
        <p:txBody>
          <a:bodyPr wrap="square" lIns="73152" rIns="54864" tIns="54864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41"/>
                </a:solidFill>
                <a:latin typeface="Aptos"/>
              </a:defRPr>
            </a:pPr>
            <a:r>
              <a:t>Line 1 prints what?</a:t>
            </a:r>
          </a:p>
          <a:p>
            <a:pPr>
              <a:spcAft>
                <a:spcPts val="1000"/>
              </a:spcAft>
              <a:defRPr sz="1600">
                <a:solidFill>
                  <a:srgbClr val="232D41"/>
                </a:solidFill>
                <a:latin typeface="Aptos"/>
              </a:defRPr>
            </a:pPr>
            <a:r>
              <a:t>What does s become?</a:t>
            </a:r>
          </a:p>
          <a:p>
            <a:pPr>
              <a:spcAft>
                <a:spcPts val="1000"/>
              </a:spcAft>
              <a:defRPr sz="1600">
                <a:solidFill>
                  <a:srgbClr val="232D41"/>
                </a:solidFill>
                <a:latin typeface="Aptos"/>
              </a:defRPr>
            </a:pPr>
            <a:r>
              <a:t>What is the final length?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0584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900" b="1">
                <a:solidFill>
                  <a:srgbClr val="3FAA7E"/>
                </a:solidFill>
                <a:latin typeface="Aptos"/>
              </a:rPr>
              <a:t>Answer: e   /   Hello   /  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100584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66738A"/>
                </a:solidFill>
                <a:latin typeface="Aptos"/>
              </a:rPr>
              <a:t>Ask: why is s[1] 'e' and not 'h'?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Mini challenge: count the vowels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Let students implement this in pairs before showing a solution.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7548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100" b="1">
                <a:solidFill>
                  <a:srgbClr val="14203A"/>
                </a:solidFill>
                <a:latin typeface="Aptos"/>
              </a:rP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84632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0">
                <a:solidFill>
                  <a:srgbClr val="232D41"/>
                </a:solidFill>
                <a:latin typeface="Aptos"/>
              </a:rPr>
              <a:t>Given a string, count how many of its characters are vowels (a, e, i, o, u).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29000"/>
            <a:ext cx="5212080" cy="146304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538728"/>
            <a:ext cx="4919472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CE7F8"/>
                </a:solidFill>
                <a:latin typeface="Consolas"/>
              </a:defRPr>
            </a:pPr>
            <a:r>
              <a:t>Input: education</a:t>
            </a:r>
          </a:p>
          <a:p>
            <a:pPr>
              <a:spcAft>
                <a:spcPts val="200"/>
              </a:spcAft>
              <a:defRPr sz="1800">
                <a:solidFill>
                  <a:srgbClr val="DCE7F8"/>
                </a:solidFill>
                <a:latin typeface="Consolas"/>
              </a:defRPr>
            </a:pPr>
            <a:r>
              <a:t>Output: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3891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100" b="1">
                <a:solidFill>
                  <a:srgbClr val="14203A"/>
                </a:solidFill>
                <a:latin typeface="Aptos"/>
              </a:rPr>
              <a:t>Think in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4572000" cy="2377440"/>
          </a:xfrm>
          <a:prstGeom prst="rect">
            <a:avLst/>
          </a:prstGeom>
          <a:noFill/>
        </p:spPr>
        <p:txBody>
          <a:bodyPr wrap="square" lIns="73152" rIns="54864" tIns="54864" b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D41"/>
                </a:solidFill>
                <a:latin typeface="Aptos"/>
              </a:defRPr>
            </a:pPr>
            <a:r>
              <a:t>Start count at 0.</a:t>
            </a:r>
          </a:p>
          <a:p>
            <a:pPr>
              <a:spcAft>
                <a:spcPts val="1000"/>
              </a:spcAft>
              <a:defRPr sz="1700">
                <a:solidFill>
                  <a:srgbClr val="232D41"/>
                </a:solidFill>
                <a:latin typeface="Aptos"/>
              </a:defRPr>
            </a:pPr>
            <a:r>
              <a:t>Visit every character.</a:t>
            </a:r>
          </a:p>
          <a:p>
            <a:pPr>
              <a:spcAft>
                <a:spcPts val="1000"/>
              </a:spcAft>
              <a:defRPr sz="1700">
                <a:solidFill>
                  <a:srgbClr val="232D41"/>
                </a:solidFill>
                <a:latin typeface="Aptos"/>
              </a:defRPr>
            </a:pPr>
            <a:r>
              <a:t>If it is a vowel, increase count.</a:t>
            </a:r>
          </a:p>
          <a:p>
            <a:pPr>
              <a:spcAft>
                <a:spcPts val="1000"/>
              </a:spcAft>
              <a:defRPr sz="1700">
                <a:solidFill>
                  <a:srgbClr val="232D41"/>
                </a:solidFill>
                <a:latin typeface="Aptos"/>
              </a:defRPr>
            </a:pPr>
            <a:r>
              <a:t>Print count at the 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92040"/>
            <a:ext cx="43891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600" b="1">
                <a:solidFill>
                  <a:srgbClr val="8766D6"/>
                </a:solidFill>
                <a:latin typeface="Aptos"/>
              </a:rPr>
              <a:t>Bonus: make it case-insensitive.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Mini challenge: one possible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Trace the loop on input "education".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486400" cy="3383280"/>
          </a:xfrm>
          <a:prstGeom prst="roundRect">
            <a:avLst/>
          </a:prstGeom>
          <a:solidFill>
            <a:srgbClr val="1C2742"/>
          </a:solidFill>
          <a:ln>
            <a:solidFill>
              <a:srgbClr val="1C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18488"/>
            <a:ext cx="5193792" cy="3163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string s;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cin &gt;&gt; s;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int cnt = 0;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for (char c : s) {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    if (c == 'a' || c == 'e' || c == 'i' ||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        c == 'o' || c == 'u') {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        cnt++;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500">
                <a:solidFill>
                  <a:srgbClr val="DCE7F8"/>
                </a:solidFill>
                <a:latin typeface="Consolas"/>
              </a:defRPr>
            </a:pPr>
            <a:r>
              <a:t>cout &lt;&lt; cnt;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600200"/>
            <a:ext cx="4389120" cy="3017520"/>
          </a:xfrm>
          <a:prstGeom prst="roundRect">
            <a:avLst/>
          </a:prstGeom>
          <a:solidFill>
            <a:srgbClr val="E8EFFA"/>
          </a:solidFill>
          <a:ln>
            <a:solidFill>
              <a:srgbClr val="E8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874519"/>
            <a:ext cx="3657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4203A"/>
                </a:solidFill>
                <a:latin typeface="Aptos"/>
              </a:rPr>
              <a:t>Trace: education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560320"/>
            <a:ext cx="621792" cy="621792"/>
          </a:xfrm>
          <a:prstGeom prst="roundRect">
            <a:avLst/>
          </a:prstGeom>
          <a:solidFill>
            <a:srgbClr val="3FAA7E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700" b="1">
                <a:solidFill>
                  <a:srgbClr val="F8FAFD"/>
                </a:solidFill>
                <a:latin typeface="Aptos"/>
              </a:rPr>
              <a:t>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62088" y="2560320"/>
            <a:ext cx="621792" cy="621792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700" b="1">
                <a:solidFill>
                  <a:srgbClr val="F8FAFD"/>
                </a:solidFill>
                <a:latin typeface="Aptos"/>
              </a:rPr>
              <a:t>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1896" y="2560320"/>
            <a:ext cx="621792" cy="621792"/>
          </a:xfrm>
          <a:prstGeom prst="roundRect">
            <a:avLst/>
          </a:prstGeom>
          <a:solidFill>
            <a:srgbClr val="3FAA7E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700" b="1">
                <a:solidFill>
                  <a:srgbClr val="F8FAFD"/>
                </a:solidFill>
                <a:latin typeface="Aptos"/>
              </a:rPr>
              <a:t>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2560320"/>
            <a:ext cx="621792" cy="621792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700" b="1">
                <a:solidFill>
                  <a:srgbClr val="F8FAFD"/>
                </a:solidFill>
                <a:latin typeface="Aptos"/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11512" y="2560320"/>
            <a:ext cx="621792" cy="621792"/>
          </a:xfrm>
          <a:prstGeom prst="roundRect">
            <a:avLst/>
          </a:prstGeom>
          <a:solidFill>
            <a:srgbClr val="3FAA7E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700" b="1">
                <a:solidFill>
                  <a:srgbClr val="F8FAFD"/>
                </a:solidFill>
                <a:latin typeface="Aptos"/>
              </a:rP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383279"/>
            <a:ext cx="621792" cy="621792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700" b="1">
                <a:solidFill>
                  <a:srgbClr val="F8FAFD"/>
                </a:solidFill>
                <a:latin typeface="Aptos"/>
              </a:rPr>
              <a:t>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62088" y="3383279"/>
            <a:ext cx="621792" cy="621792"/>
          </a:xfrm>
          <a:prstGeom prst="roundRect">
            <a:avLst/>
          </a:prstGeom>
          <a:solidFill>
            <a:srgbClr val="3FAA7E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700" b="1">
                <a:solidFill>
                  <a:srgbClr val="F8FAFD"/>
                </a:solidFill>
                <a:latin typeface="Aptos"/>
              </a:rPr>
              <a:t>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11896" y="3383279"/>
            <a:ext cx="621792" cy="621792"/>
          </a:xfrm>
          <a:prstGeom prst="roundRect">
            <a:avLst/>
          </a:prstGeom>
          <a:solidFill>
            <a:srgbClr val="3FAA7E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700" b="1">
                <a:solidFill>
                  <a:srgbClr val="F8FAFD"/>
                </a:solidFill>
                <a:latin typeface="Aptos"/>
              </a:rPr>
              <a:t>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3383279"/>
            <a:ext cx="621792" cy="621792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700" b="1">
                <a:solidFill>
                  <a:srgbClr val="F8FAFD"/>
                </a:solidFill>
                <a:latin typeface="Aptos"/>
              </a:rP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343400"/>
            <a:ext cx="36576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400" b="1">
                <a:solidFill>
                  <a:srgbClr val="3FAA7E"/>
                </a:solidFill>
                <a:latin typeface="Aptos"/>
              </a:rPr>
              <a:t>Green = vowel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57800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14203A"/>
                </a:solidFill>
                <a:latin typeface="Aptos"/>
              </a:rPr>
              <a:t>Note: "education" has 5 vowels: e, u, a, i, 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4203A"/>
                </a:solidFill>
                <a:latin typeface="Aptos"/>
              </a:rPr>
              <a:t>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6738A"/>
                </a:solidFill>
                <a:latin typeface="Aptos"/>
              </a:rPr>
              <a:t>Ask students to explain each point in their own words.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50292"/>
          </a:xfrm>
          <a:prstGeom prst="rect">
            <a:avLst/>
          </a:prstGeom>
          <a:solidFill>
            <a:srgbClr val="39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6738A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4114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900" b="0">
                <a:solidFill>
                  <a:srgbClr val="66738A"/>
                </a:solidFill>
                <a:latin typeface="Aptos"/>
              </a:rPr>
              <a:t>DSA BOOTCAMP  •  DAY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502920" cy="50292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45336"/>
            <a:ext cx="93268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232D41"/>
                </a:solidFill>
                <a:latin typeface="Aptos"/>
              </a:rPr>
              <a:t>char stores one character: 'A'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221991"/>
            <a:ext cx="502920" cy="50292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58568"/>
            <a:ext cx="93268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0">
                <a:solidFill>
                  <a:srgbClr val="232D41"/>
                </a:solidFill>
                <a:latin typeface="Aptos"/>
              </a:rPr>
              <a:t>char word[] = "CAT" needs a '\0' terminator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935224"/>
            <a:ext cx="502920" cy="502920"/>
          </a:xfrm>
          <a:prstGeom prst="roundRect">
            <a:avLst/>
          </a:prstGeom>
          <a:solidFill>
            <a:srgbClr val="396EE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71800"/>
            <a:ext cx="93268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0">
                <a:solidFill>
                  <a:srgbClr val="232D41"/>
                </a:solidFill>
                <a:latin typeface="Aptos"/>
              </a:rPr>
              <a:t>string s = "CAT" is easier for most text 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648456"/>
            <a:ext cx="502920" cy="502920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685031"/>
            <a:ext cx="93268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0">
                <a:solidFill>
                  <a:srgbClr val="232D41"/>
                </a:solidFill>
                <a:latin typeface="Aptos"/>
              </a:rPr>
              <a:t>Indexes begin at 0; last index = size() - 1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361688"/>
            <a:ext cx="502920" cy="502920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398264"/>
            <a:ext cx="93268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0">
                <a:solidFill>
                  <a:srgbClr val="232D41"/>
                </a:solidFill>
                <a:latin typeface="Aptos"/>
              </a:rPr>
              <a:t>Use getline() when input may contain spaces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074920"/>
            <a:ext cx="502920" cy="502920"/>
          </a:xfrm>
          <a:prstGeom prst="roundRect">
            <a:avLst/>
          </a:prstGeom>
          <a:solidFill>
            <a:srgbClr val="8766D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111496"/>
            <a:ext cx="93268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0">
                <a:solidFill>
                  <a:srgbClr val="232D41"/>
                </a:solidFill>
                <a:latin typeface="Aptos"/>
              </a:rPr>
              <a:t>Loops let us count, search, transform, and reverse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3000" b="1">
                <a:solidFill>
                  <a:srgbClr val="F8FAFD"/>
                </a:solidFill>
                <a:latin typeface="Aptos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0">
                <a:solidFill>
                  <a:srgbClr val="4AC9DC"/>
                </a:solidFill>
                <a:latin typeface="Aptos"/>
              </a:rPr>
              <a:t>Before leaving, answer these without looking back: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10332720" cy="566928"/>
          </a:xfrm>
          <a:prstGeom prst="roundRect">
            <a:avLst/>
          </a:prstGeom>
          <a:solidFill>
            <a:srgbClr val="233353"/>
          </a:solidFill>
          <a:ln>
            <a:solidFill>
              <a:srgbClr val="233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57984"/>
            <a:ext cx="97840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F8FAFD"/>
                </a:solidFill>
                <a:latin typeface="Aptos"/>
              </a:rPr>
              <a:t>1. What is the difference between 'A' and "A"?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4640"/>
            <a:ext cx="10332720" cy="566928"/>
          </a:xfrm>
          <a:prstGeom prst="roundRect">
            <a:avLst/>
          </a:prstGeom>
          <a:solidFill>
            <a:srgbClr val="233353"/>
          </a:solidFill>
          <a:ln>
            <a:solidFill>
              <a:srgbClr val="233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35224"/>
            <a:ext cx="97840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F8FAFD"/>
                </a:solidFill>
                <a:latin typeface="Aptos"/>
              </a:rPr>
              <a:t>2. What does s.size() return?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11880"/>
            <a:ext cx="10332720" cy="566928"/>
          </a:xfrm>
          <a:prstGeom prst="roundRect">
            <a:avLst/>
          </a:prstGeom>
          <a:solidFill>
            <a:srgbClr val="233353"/>
          </a:solidFill>
          <a:ln>
            <a:solidFill>
              <a:srgbClr val="233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712463"/>
            <a:ext cx="97840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F8FAFD"/>
                </a:solidFill>
                <a:latin typeface="Aptos"/>
              </a:rPr>
              <a:t>3. Why does char word[] = "CAT" need 4 slots?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89120"/>
            <a:ext cx="10332720" cy="566928"/>
          </a:xfrm>
          <a:prstGeom prst="roundRect">
            <a:avLst/>
          </a:prstGeom>
          <a:solidFill>
            <a:srgbClr val="233353"/>
          </a:solidFill>
          <a:ln>
            <a:solidFill>
              <a:srgbClr val="233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89704"/>
            <a:ext cx="97840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F8FAFD"/>
                </a:solidFill>
                <a:latin typeface="Aptos"/>
              </a:rPr>
              <a:t>4. How would you read a full name with spaces?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9601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600" b="1">
                <a:solidFill>
                  <a:srgbClr val="FFC759"/>
                </a:solidFill>
                <a:latin typeface="Aptos"/>
              </a:rPr>
              <a:t>Great work — next step: solve 2–3 easy string problems.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AAB9D2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