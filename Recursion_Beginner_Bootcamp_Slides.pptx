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5CBEFF"/>
                </a:solidFill>
                <a:latin typeface="Aptos"/>
              </a:defRPr>
            </a:pPr>
            <a:r>
              <a:t>DSA BOOTCAMP  •  BEGINNER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F2F6FC"/>
                </a:solidFill>
                <a:latin typeface="Aptos"/>
              </a:defRPr>
            </a:pPr>
            <a:r>
              <a:t>RECURSION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9144000" cy="7315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B4C3D7"/>
                </a:solidFill>
                <a:latin typeface="Aptos"/>
              </a:defRPr>
            </a:pPr>
            <a:r>
              <a:t>Teach a function to solve a smaller version of the same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886200"/>
            <a:ext cx="10515600" cy="137160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160520"/>
            <a:ext cx="9875520" cy="8229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Start with a simple counting problem — not factorial or Fibonacci.</a:t>
            </a:r>
          </a:p>
          <a:p>
            <a:pPr>
              <a:spcAft>
                <a:spcPts val="5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Then build up to choices, sorting, and divide &amp; conquer.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10058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VISUAL NOTES + C++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Today's learning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520440" cy="182880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36776"/>
            <a:ext cx="319125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CBEFF"/>
                </a:solidFill>
                <a:latin typeface="Aptos"/>
              </a:defRPr>
            </a:pPr>
            <a:r>
              <a:t>01  The basic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39112"/>
            <a:ext cx="3191256" cy="1207007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A function calls itself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Base case stops the calls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Each call handles a smaller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520440" cy="182880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636776"/>
            <a:ext cx="319125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02  Build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039112"/>
            <a:ext cx="3191256" cy="1207007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Print 1 to N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Sum of an array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Factorial and Fibonacci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08760"/>
            <a:ext cx="3520440" cy="182880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636776"/>
            <a:ext cx="319125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D5A"/>
                </a:solidFill>
                <a:latin typeface="Aptos"/>
              </a:defRPr>
            </a:pPr>
            <a:r>
              <a:t>03  Explore choices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39112"/>
            <a:ext cx="3191256" cy="1207007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Generate subsequences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Coin toss outcomes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3749039"/>
            <a:ext cx="3520440" cy="182880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472" y="3877055"/>
            <a:ext cx="319125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2A0"/>
                </a:solidFill>
                <a:latin typeface="Aptos"/>
              </a:defRPr>
            </a:pPr>
            <a:r>
              <a:t>04  Divide &amp; conquer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4279392"/>
            <a:ext cx="3191256" cy="1207007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Merge sort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• Quick sort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49039"/>
            <a:ext cx="3520440" cy="182880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877055"/>
            <a:ext cx="319125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CBEFF"/>
                </a:solidFill>
                <a:latin typeface="Aptos"/>
              </a:defRPr>
            </a:pPr>
            <a:r>
              <a:t>Today's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279392"/>
            <a:ext cx="3191256" cy="1207007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Trace the calls. Don't memorise the code.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Ask: what is the smaller problem?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Start here: print numbers from 1 to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0292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B4C3D7"/>
                </a:solidFill>
                <a:latin typeface="Aptos"/>
              </a:defRPr>
            </a:pPr>
            <a:r>
              <a:t>For N = 4, expected output: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777240" cy="685800"/>
          </a:xfrm>
          <a:prstGeom prst="roundRect">
            <a:avLst/>
          </a:prstGeom>
          <a:solidFill>
            <a:srgbClr val="21435C"/>
          </a:solidFill>
          <a:ln>
            <a:solidFill>
              <a:srgbClr val="21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76272"/>
            <a:ext cx="77724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2F6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057400"/>
            <a:ext cx="777240" cy="685800"/>
          </a:xfrm>
          <a:prstGeom prst="roundRect">
            <a:avLst/>
          </a:prstGeom>
          <a:solidFill>
            <a:srgbClr val="21435C"/>
          </a:solidFill>
          <a:ln>
            <a:solidFill>
              <a:srgbClr val="21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176272"/>
            <a:ext cx="77724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2F6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057400"/>
            <a:ext cx="777240" cy="685800"/>
          </a:xfrm>
          <a:prstGeom prst="roundRect">
            <a:avLst/>
          </a:prstGeom>
          <a:solidFill>
            <a:srgbClr val="21435C"/>
          </a:solidFill>
          <a:ln>
            <a:solidFill>
              <a:srgbClr val="21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176272"/>
            <a:ext cx="77724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2F6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057400"/>
            <a:ext cx="777240" cy="685800"/>
          </a:xfrm>
          <a:prstGeom prst="roundRect">
            <a:avLst/>
          </a:prstGeom>
          <a:solidFill>
            <a:srgbClr val="21435C"/>
          </a:solidFill>
          <a:ln>
            <a:solidFill>
              <a:srgbClr val="21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176272"/>
            <a:ext cx="77724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2F6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00400"/>
            <a:ext cx="5303520" cy="2423160"/>
          </a:xfrm>
          <a:prstGeom prst="roundRect">
            <a:avLst/>
          </a:prstGeom>
          <a:solidFill>
            <a:srgbClr val="080E19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310128"/>
            <a:ext cx="5047488" cy="220370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ADCAF"/>
                </a:solidFill>
                <a:latin typeface="Consolas"/>
              </a:defRPr>
            </a:pPr>
            <a:r>
              <a:t>void printN(int n) {</a:t>
            </a:r>
          </a:p>
          <a:p>
            <a:pPr>
              <a:spcAft>
                <a:spcPts val="500"/>
              </a:spcAft>
              <a:defRPr sz="1600" b="0">
                <a:solidFill>
                  <a:srgbClr val="5ADCAF"/>
                </a:solidFill>
                <a:latin typeface="Consolas"/>
              </a:defRPr>
            </a:pPr>
            <a:r>
              <a:t>    if (n == 0) return;</a:t>
            </a:r>
          </a:p>
          <a:p>
            <a:pPr>
              <a:spcAft>
                <a:spcPts val="500"/>
              </a:spcAft>
              <a:defRPr sz="1600" b="0">
                <a:solidFill>
                  <a:srgbClr val="5ADCAF"/>
                </a:solidFill>
                <a:latin typeface="Consolas"/>
              </a:defRPr>
            </a:pPr>
            <a:r>
              <a:t>    printN(n - 1);</a:t>
            </a:r>
          </a:p>
          <a:p>
            <a:pPr>
              <a:spcAft>
                <a:spcPts val="500"/>
              </a:spcAft>
              <a:defRPr sz="1600" b="0">
                <a:solidFill>
                  <a:srgbClr val="5ADCAF"/>
                </a:solidFill>
                <a:latin typeface="Consolas"/>
              </a:defRPr>
            </a:pPr>
            <a:r>
              <a:t>    cout &lt;&lt; n &lt;&lt; " ";</a:t>
            </a:r>
          </a:p>
          <a:p>
            <a:pPr>
              <a:spcAft>
                <a:spcPts val="500"/>
              </a:spcAft>
              <a:defRPr sz="1600" b="0">
                <a:solidFill>
                  <a:srgbClr val="5ADCA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08760"/>
            <a:ext cx="5029200" cy="411480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636776"/>
            <a:ext cx="470001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D5A"/>
                </a:solidFill>
                <a:latin typeface="Aptos"/>
              </a:defRPr>
            </a:pPr>
            <a:r>
              <a:t>Think before 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039112"/>
            <a:ext cx="4700016" cy="349300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What should happen for n = 0?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What smaller input can help us print 1, 2, ..., n?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Key idea: solve for n - 1 first, then print 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What actually happens when a function calls itself?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137160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45336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CBEFF"/>
                </a:solidFill>
                <a:latin typeface="Aptos"/>
              </a:defRPr>
            </a:pPr>
            <a:r>
              <a:t>1.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47672"/>
            <a:ext cx="3054096" cy="74980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printN(3) starts running.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37160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545336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D5A"/>
                </a:solidFill>
                <a:latin typeface="Aptos"/>
              </a:defRPr>
            </a:pPr>
            <a:r>
              <a:t>2. 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47672"/>
            <a:ext cx="3054096" cy="74980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It calls printN(2).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The current call waits.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45336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3.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3054096" cy="74980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Smaller call finishes.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Execution continues.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2F6FC"/>
                </a:solidFill>
                <a:latin typeface="Aptos"/>
              </a:defRPr>
            </a:pPr>
            <a:r>
              <a:t>Call stack (top = currently running)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69080"/>
            <a:ext cx="2103120" cy="777240"/>
          </a:xfrm>
          <a:prstGeom prst="roundRect">
            <a:avLst/>
          </a:prstGeom>
          <a:solidFill>
            <a:srgbClr val="19263C"/>
          </a:solidFill>
          <a:ln>
            <a:solidFill>
              <a:srgbClr val="FF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79392"/>
            <a:ext cx="20116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82A0"/>
                </a:solidFill>
                <a:latin typeface="Aptos"/>
              </a:defRPr>
            </a:pPr>
            <a:r>
              <a:t>printN(0)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069080"/>
            <a:ext cx="2103120" cy="777240"/>
          </a:xfrm>
          <a:prstGeom prst="roundRect">
            <a:avLst/>
          </a:prstGeom>
          <a:solidFill>
            <a:srgbClr val="19263C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279392"/>
            <a:ext cx="20116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5CBEFF"/>
                </a:solidFill>
                <a:latin typeface="Aptos"/>
              </a:defRPr>
            </a:pPr>
            <a:r>
              <a:t>printN(1)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069080"/>
            <a:ext cx="2103120" cy="777240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279392"/>
            <a:ext cx="20116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5ADCAF"/>
                </a:solidFill>
                <a:latin typeface="Aptos"/>
              </a:defRPr>
            </a:pPr>
            <a:r>
              <a:t>printN(2)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4069080"/>
            <a:ext cx="2103120" cy="777240"/>
          </a:xfrm>
          <a:prstGeom prst="roundRect">
            <a:avLst/>
          </a:prstGeom>
          <a:solidFill>
            <a:srgbClr val="19263C"/>
          </a:solidFill>
          <a:ln>
            <a:solidFill>
              <a:srgbClr val="FF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279392"/>
            <a:ext cx="20116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CD5A"/>
                </a:solidFill>
                <a:latin typeface="Aptos"/>
              </a:defRPr>
            </a:pPr>
            <a:r>
              <a:t>printN(3)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0584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4C3D7"/>
                </a:solidFill>
                <a:latin typeface="Aptos"/>
              </a:defRPr>
            </a:pPr>
            <a:r>
              <a:t>Calls are pushed onto the stack. When a call returns, its frame is removed.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Every recursive function needs two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120640" cy="338328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82495"/>
            <a:ext cx="4791455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2A0"/>
                </a:solidFill>
                <a:latin typeface="Aptos"/>
              </a:defRPr>
            </a:pPr>
            <a:r>
              <a:t>BASE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84831"/>
            <a:ext cx="4791455" cy="27614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The smallest situation we can answer directly.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Example: if (n == 0) return;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Without it, calls may continue until stack overflow.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54480"/>
            <a:ext cx="5120640" cy="338328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82495"/>
            <a:ext cx="4791455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RECURSIVE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084831"/>
            <a:ext cx="4791455" cy="27614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Make progress toward the base case.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Example: printN(n - 1);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The input must become smaller or simpler.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D5A"/>
                </a:solidFill>
                <a:latin typeface="Aptos"/>
              </a:defRPr>
            </a:pPr>
            <a:r>
              <a:t>Quick check: Does every path eventually reach the base case?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Trace it: printN(3)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846320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5CBEFF"/>
                </a:solidFill>
                <a:latin typeface="Aptos"/>
              </a:defRPr>
            </a:pPr>
            <a:r>
              <a:t>Going down (calls)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2103120" cy="438912"/>
          </a:xfrm>
          <a:prstGeom prst="roundRect">
            <a:avLst/>
          </a:prstGeom>
          <a:solidFill>
            <a:srgbClr val="19263C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20116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2F6FC"/>
                </a:solidFill>
                <a:latin typeface="Aptos"/>
              </a:defRPr>
            </a:pPr>
            <a:r>
              <a:t>printN(3)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2651760"/>
            <a:ext cx="2103120" cy="438912"/>
          </a:xfrm>
          <a:prstGeom prst="roundRect">
            <a:avLst/>
          </a:prstGeom>
          <a:solidFill>
            <a:srgbClr val="19263C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715768"/>
            <a:ext cx="20116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2F6FC"/>
                </a:solidFill>
                <a:latin typeface="Aptos"/>
              </a:defRPr>
            </a:pPr>
            <a:r>
              <a:t>printN(2)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154680"/>
            <a:ext cx="2103120" cy="438912"/>
          </a:xfrm>
          <a:prstGeom prst="roundRect">
            <a:avLst/>
          </a:prstGeom>
          <a:solidFill>
            <a:srgbClr val="19263C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3218688"/>
            <a:ext cx="20116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2F6FC"/>
                </a:solidFill>
                <a:latin typeface="Aptos"/>
              </a:defRPr>
            </a:pPr>
            <a:r>
              <a:t>printN(1)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3657600"/>
            <a:ext cx="2103120" cy="438912"/>
          </a:xfrm>
          <a:prstGeom prst="roundRect">
            <a:avLst/>
          </a:prstGeom>
          <a:solidFill>
            <a:srgbClr val="19263C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59" y="3721608"/>
            <a:ext cx="201168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2F6FC"/>
                </a:solidFill>
                <a:latin typeface="Aptos"/>
              </a:defRPr>
            </a:pPr>
            <a:r>
              <a:t>printN(0)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5ADCAF"/>
                </a:solidFill>
                <a:latin typeface="Aptos"/>
              </a:defRPr>
            </a:pPr>
            <a:r>
              <a:t>Coming back (prints)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057400"/>
            <a:ext cx="3840480" cy="457200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139696"/>
            <a:ext cx="356616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return from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715768"/>
            <a:ext cx="3840480" cy="457200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798063"/>
            <a:ext cx="356616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print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374136"/>
            <a:ext cx="3840480" cy="457200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456432"/>
            <a:ext cx="356616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print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4032504"/>
            <a:ext cx="3840480" cy="457200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114800"/>
            <a:ext cx="356616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print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10332720" cy="4572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CD5A"/>
                </a:solidFill>
                <a:latin typeface="Aptos"/>
              </a:defRPr>
            </a:pPr>
            <a:r>
              <a:t>Output: 1 2 3     •     Move cout before the recursive call and the order changes!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Basic problem: sum of an 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CD5A"/>
                </a:solidFill>
                <a:latin typeface="Aptos"/>
              </a:defRPr>
            </a:pPr>
            <a:r>
              <a:t>arr = [4, 2, 7, 1]     sum = 4 + 2 + 7 + 1 =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5486400" cy="3337560"/>
          </a:xfrm>
          <a:prstGeom prst="roundRect">
            <a:avLst/>
          </a:prstGeom>
          <a:solidFill>
            <a:srgbClr val="080E19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67128"/>
            <a:ext cx="5230368" cy="311810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int sumArray(int a[], int n) {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if (n == 0) return 0;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return a[n - 1] + sumArray(a, n - 1);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057400"/>
            <a:ext cx="4800600" cy="333756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2185416"/>
            <a:ext cx="447141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Break it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587752"/>
            <a:ext cx="4471416" cy="27157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sum(4) = 1 + sum(3)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sum(3) = 7 + sum(2)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sum(2) = 2 + sum(1)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sum(1) = 4 + sum(0)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sum(0) = 0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Return values: 4 → 6 → 13 →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B4C3D7"/>
                </a:solidFill>
                <a:latin typeface="Aptos"/>
              </a:defRPr>
            </a:pPr>
            <a:r>
              <a:t>Alternative: use an index i and stop when i == 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Now the familiar examples make 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03520" cy="347472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36776"/>
            <a:ext cx="497433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CBEFF"/>
                </a:solidFill>
                <a:latin typeface="Aptos"/>
              </a:defRPr>
            </a:pPr>
            <a:r>
              <a:t>Factorial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39112"/>
            <a:ext cx="4974336" cy="2852927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int fact(int n) {</a:t>
            </a: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    if (n &lt;= 1) return 1;</a:t>
            </a: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    return n * fact(n - 1);</a:t>
            </a: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}</a:t>
            </a: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fact(4) = 4 × 3 × 2 × 1 =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303520" cy="347472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636776"/>
            <a:ext cx="497433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D5A"/>
                </a:solidFill>
                <a:latin typeface="Aptos"/>
              </a:defRPr>
            </a:pPr>
            <a:r>
              <a:t>Fibonacci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039112"/>
            <a:ext cx="4974336" cy="2852927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int fib(int n) {</a:t>
            </a: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    if (n &lt;= 1) return n;</a:t>
            </a: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    return fib(n-1) + fib(n-2);</a:t>
            </a: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}</a:t>
            </a: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fib(5) = 5 (0, 1, 1, 2, 3,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1042416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82A0"/>
                </a:solidFill>
                <a:latin typeface="Aptos"/>
              </a:defRPr>
            </a:pPr>
            <a:r>
              <a:t>Important: naive Fibonacci repeats work; its time complexity is exponential.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Subsequence: take it or leave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4C3D7"/>
                </a:solidFill>
                <a:latin typeface="Aptos"/>
              </a:defRPr>
            </a:pPr>
            <a:r>
              <a:t>Array: [1, 2, 3]     A subsequence keeps the original order, but may skip elements.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057400"/>
            <a:ext cx="914400" cy="777240"/>
          </a:xfrm>
          <a:prstGeom prst="roundRect">
            <a:avLst/>
          </a:prstGeom>
          <a:solidFill>
            <a:srgbClr val="1F4058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2F6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057400"/>
            <a:ext cx="914400" cy="777240"/>
          </a:xfrm>
          <a:prstGeom prst="roundRect">
            <a:avLst/>
          </a:prstGeom>
          <a:solidFill>
            <a:srgbClr val="1F4058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26771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2F6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057400"/>
            <a:ext cx="914400" cy="777240"/>
          </a:xfrm>
          <a:prstGeom prst="roundRect">
            <a:avLst/>
          </a:prstGeom>
          <a:solidFill>
            <a:srgbClr val="1F4058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26771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2F6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783080"/>
            <a:ext cx="5577840" cy="338328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1911095"/>
            <a:ext cx="5248655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At each index, make 2 choices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313432"/>
            <a:ext cx="5248655" cy="27614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TAKE the current element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OR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SKIP the current element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For 3 elements: 2³ = 8 subsequences (including empty).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4389120" cy="5486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CD5A"/>
                </a:solidFill>
                <a:latin typeface="Aptos"/>
              </a:defRPr>
            </a:pPr>
            <a:r>
              <a:t>Examples: [], [1], [2,3], [1,3], [1,2,3]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Generate subsequences: recursion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4251960"/>
          </a:xfrm>
          <a:prstGeom prst="roundRect">
            <a:avLst/>
          </a:prstGeom>
          <a:solidFill>
            <a:srgbClr val="080E19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527048"/>
            <a:ext cx="5047488" cy="403250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  <a:r>
              <a:t>void gen(int i, vector&lt;int&gt;&amp; a,</a:t>
            </a:r>
          </a:p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  <a:r>
              <a:t>         vector&lt;int&gt;&amp; cur) {</a:t>
            </a:r>
          </a:p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  <a:r>
              <a:t>    if (i == a.size()) {</a:t>
            </a:r>
          </a:p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  <a:r>
              <a:t>        // use / print cur</a:t>
            </a:r>
          </a:p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  <a:r>
              <a:t>        return;</a:t>
            </a:r>
          </a:p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  <a:r>
              <a:t>    cur.push_back(a[i]);</a:t>
            </a:r>
          </a:p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  <a:r>
              <a:t>    gen(i + 1, a, cur); // take</a:t>
            </a:r>
          </a:p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  <a:r>
              <a:t>    cur.pop_back();</a:t>
            </a:r>
          </a:p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  <a:r>
              <a:t>    gen(i + 1, a, cur); // skip</a:t>
            </a:r>
          </a:p>
          <a:p>
            <a:pPr>
              <a:spcAft>
                <a:spcPts val="500"/>
              </a:spcAft>
              <a:defRPr sz="1300" b="0">
                <a:solidFill>
                  <a:srgbClr val="5ADCA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CBEFF"/>
                </a:solidFill>
                <a:latin typeface="Aptos"/>
              </a:defRPr>
            </a:pPr>
            <a:r>
              <a:t>For [A, B], choices form a tree: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48840"/>
            <a:ext cx="914400" cy="438912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221992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6FC"/>
                </a:solidFill>
                <a:latin typeface="Aptos"/>
              </a:defRPr>
            </a:pPr>
            <a:r>
              <a:t>[]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246120"/>
            <a:ext cx="914400" cy="438912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319272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6FC"/>
                </a:solidFill>
                <a:latin typeface="Aptos"/>
              </a:defRPr>
            </a:pPr>
            <a:r>
              <a:t>[A]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3246120"/>
            <a:ext cx="914400" cy="438912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3319272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6FC"/>
                </a:solidFill>
                <a:latin typeface="Aptos"/>
              </a:defRPr>
            </a:pPr>
            <a:r>
              <a:t>[]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434840"/>
            <a:ext cx="914400" cy="438912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507992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6FC"/>
                </a:solidFill>
                <a:latin typeface="Aptos"/>
              </a:defRPr>
            </a:pPr>
            <a:r>
              <a:t>[A,B]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434840"/>
            <a:ext cx="914400" cy="438912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507992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6FC"/>
                </a:solidFill>
                <a:latin typeface="Aptos"/>
              </a:defRPr>
            </a:pPr>
            <a:r>
              <a:t>[A]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4434840"/>
            <a:ext cx="914400" cy="438912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4507992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6FC"/>
                </a:solidFill>
                <a:latin typeface="Aptos"/>
              </a:defRPr>
            </a:pPr>
            <a:r>
              <a:t>[B]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4434840"/>
            <a:ext cx="914400" cy="438912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4507992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6FC"/>
                </a:solidFill>
                <a:latin typeface="Aptos"/>
              </a:defRPr>
            </a:pPr>
            <a:r>
              <a:t>[]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212080"/>
            <a:ext cx="5120640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CD5A"/>
                </a:solidFill>
                <a:latin typeface="Aptos"/>
              </a:defRPr>
            </a:pPr>
            <a:r>
              <a:t>Time: O(2ⁿ) outputs; recursion depth: O(n).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Why do we pop_back()? (undo the choice)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338328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82495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CBEFF"/>
                </a:solidFill>
                <a:latin typeface="Aptos"/>
              </a:defRPr>
            </a:pPr>
            <a:r>
              <a:t>TAKE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1"/>
            <a:ext cx="3054096" cy="27614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cur = [A]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Explore all choices after 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338328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82495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D5A"/>
                </a:solidFill>
                <a:latin typeface="Aptos"/>
              </a:defRPr>
            </a:pPr>
            <a:r>
              <a:t>UNDO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84831"/>
            <a:ext cx="3054096" cy="27614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pop_back()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Restore cur = [].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338328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82495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SKIP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084831"/>
            <a:ext cx="3054096" cy="27614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Explore the branch where A is absent.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2F6FC"/>
                </a:solidFill>
                <a:latin typeface="Aptos"/>
              </a:defRPr>
            </a:pPr>
            <a:r>
              <a:t>This pattern is called backtracking: choose → explore → undo.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Coin toss: H or T at every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424160" cy="4572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CD5A"/>
                </a:solidFill>
                <a:latin typeface="Aptos"/>
              </a:defRPr>
            </a:pPr>
            <a:r>
              <a:t>For 3 tosses, every position has 2 choices. Total outcomes = 2³ = 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2240280" cy="713232"/>
          </a:xfrm>
          <a:prstGeom prst="roundRect">
            <a:avLst/>
          </a:prstGeom>
          <a:solidFill>
            <a:srgbClr val="19263C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2402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2F6FC"/>
                </a:solidFill>
                <a:latin typeface="Aptos"/>
              </a:defRPr>
            </a:pPr>
            <a:r>
              <a:t>HHH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240280"/>
            <a:ext cx="2240280" cy="713232"/>
          </a:xfrm>
          <a:prstGeom prst="roundRect">
            <a:avLst/>
          </a:prstGeom>
          <a:solidFill>
            <a:srgbClr val="19263C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423160"/>
            <a:ext cx="22402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2F6FC"/>
                </a:solidFill>
                <a:latin typeface="Aptos"/>
              </a:defRPr>
            </a:pPr>
            <a:r>
              <a:t>HHT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2240280"/>
            <a:ext cx="2240280" cy="713232"/>
          </a:xfrm>
          <a:prstGeom prst="roundRect">
            <a:avLst/>
          </a:prstGeom>
          <a:solidFill>
            <a:srgbClr val="19263C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2423160"/>
            <a:ext cx="22402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2F6FC"/>
                </a:solidFill>
                <a:latin typeface="Aptos"/>
              </a:defRPr>
            </a:pPr>
            <a:r>
              <a:t>HTH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2240280"/>
            <a:ext cx="2240280" cy="713232"/>
          </a:xfrm>
          <a:prstGeom prst="roundRect">
            <a:avLst/>
          </a:prstGeom>
          <a:solidFill>
            <a:srgbClr val="19263C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999" y="2423160"/>
            <a:ext cx="22402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2F6FC"/>
                </a:solidFill>
                <a:latin typeface="Aptos"/>
              </a:defRPr>
            </a:pPr>
            <a:r>
              <a:t>HTT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83280"/>
            <a:ext cx="2240280" cy="713232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22402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2F6FC"/>
                </a:solidFill>
                <a:latin typeface="Aptos"/>
              </a:defRPr>
            </a:pPr>
            <a:r>
              <a:t>THH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383280"/>
            <a:ext cx="2240280" cy="713232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566160"/>
            <a:ext cx="22402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2F6FC"/>
                </a:solidFill>
                <a:latin typeface="Aptos"/>
              </a:defRPr>
            </a:pPr>
            <a:r>
              <a:t>THT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3383280"/>
            <a:ext cx="2240280" cy="713232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3566160"/>
            <a:ext cx="22402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2F6FC"/>
                </a:solidFill>
                <a:latin typeface="Aptos"/>
              </a:defRPr>
            </a:pPr>
            <a:r>
              <a:t>TTH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3383280"/>
            <a:ext cx="2240280" cy="713232"/>
          </a:xfrm>
          <a:prstGeom prst="roundRect">
            <a:avLst/>
          </a:prstGeom>
          <a:solidFill>
            <a:srgbClr val="19263C"/>
          </a:solidFill>
          <a:ln>
            <a:solidFill>
              <a:srgbClr val="5AD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999" y="3566160"/>
            <a:ext cx="22402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2F6FC"/>
                </a:solidFill>
                <a:latin typeface="Aptos"/>
              </a:defRPr>
            </a:pPr>
            <a:r>
              <a:t>TTT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B4C3D7"/>
                </a:solidFill>
                <a:latin typeface="Aptos"/>
              </a:defRPr>
            </a:pPr>
            <a:r>
              <a:t>Same recursion pattern as subsequences: choose H, recurse; choose T, recurse.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Coin toss: write the recursive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6400800" cy="4343400"/>
          </a:xfrm>
          <a:prstGeom prst="roundRect">
            <a:avLst/>
          </a:prstGeom>
          <a:solidFill>
            <a:srgbClr val="080E19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572768"/>
            <a:ext cx="6144768" cy="412394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void toss(int n, string cur) {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if (cur.size() == n) {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    cout &lt;&lt; cur &lt;&lt; '\\n';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    return;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toss(n, cur + 'H');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toss(n, cur + 'T');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// toss(3, "");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45920"/>
            <a:ext cx="3977639" cy="347472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6952" y="1773936"/>
            <a:ext cx="364845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D5A"/>
                </a:solidFill>
                <a:latin typeface="Aptos"/>
              </a:defRPr>
            </a:pPr>
            <a:r>
              <a:t>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2176272"/>
            <a:ext cx="3648456" cy="2852927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No global answer array is needed.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The string `cur` represents decisions made so far.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Base case: exactly n tosses are chosen.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Divide &amp; conquer: merge 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CD5A"/>
                </a:solidFill>
                <a:latin typeface="Aptos"/>
              </a:defRPr>
            </a:pPr>
            <a:r>
              <a:t>Goal: sort [8, 3, 6, 2, 7, 1, 5, 4]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383280" cy="265176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85416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CBEFF"/>
                </a:solidFill>
                <a:latin typeface="Aptos"/>
              </a:defRPr>
            </a:pPr>
            <a:r>
              <a:t>DIVIDE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87752"/>
            <a:ext cx="3054096" cy="2029967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Split the array into halves until each part has one element.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383280" cy="265176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185416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CONQUER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87752"/>
            <a:ext cx="3054096" cy="2029967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A one-element array is already sorted.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57400"/>
            <a:ext cx="3383280" cy="265176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2185416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2A0"/>
                </a:solidFill>
                <a:latin typeface="Aptos"/>
              </a:defRPr>
            </a:pPr>
            <a: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587752"/>
            <a:ext cx="3054096" cy="2029967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Merge two sorted halves into one sorted array.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B4C3D7"/>
                </a:solidFill>
                <a:latin typeface="Aptos"/>
              </a:defRPr>
            </a:pPr>
            <a:r>
              <a:t>The recursive calls sort the left and right halves; merge does the combining.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Merge sort: follow the split and 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55448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5CBEFF"/>
                </a:solidFill>
                <a:latin typeface="Aptos"/>
              </a:defRPr>
            </a:pPr>
            <a:r>
              <a:t>Original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280160"/>
            <a:ext cx="8778240" cy="50292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371600"/>
            <a:ext cx="84124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6FC"/>
                </a:solidFill>
                <a:latin typeface="Consolas"/>
              </a:defRPr>
            </a:pPr>
            <a:r>
              <a:t>[8  3  6  2  7  1  5  4]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1"/>
            <a:ext cx="155448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5CBEFF"/>
                </a:solidFill>
                <a:latin typeface="Aptos"/>
              </a:defRPr>
            </a:pPr>
            <a:r>
              <a:t>Split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039112"/>
            <a:ext cx="8778240" cy="50292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2130551"/>
            <a:ext cx="84124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6FC"/>
                </a:solidFill>
                <a:latin typeface="Consolas"/>
              </a:defRPr>
            </a:pPr>
            <a:r>
              <a:t>[8  3  6  2]          [7  1  5  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43784"/>
            <a:ext cx="155448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5CBEFF"/>
                </a:solidFill>
                <a:latin typeface="Aptos"/>
              </a:defRPr>
            </a:pPr>
            <a:r>
              <a:t>Split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2798064"/>
            <a:ext cx="8778240" cy="50292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2889503"/>
            <a:ext cx="84124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6FC"/>
                </a:solidFill>
                <a:latin typeface="Consolas"/>
              </a:defRPr>
            </a:pPr>
            <a:r>
              <a:t>[8  3] [6  2]        [7  1] [5  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02735"/>
            <a:ext cx="155448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5CBEFF"/>
                </a:solidFill>
                <a:latin typeface="Aptos"/>
              </a:defRPr>
            </a:pPr>
            <a:r>
              <a:t>Base 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3557015"/>
            <a:ext cx="8778240" cy="50292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3648455"/>
            <a:ext cx="84124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6FC"/>
                </a:solidFill>
                <a:latin typeface="Consolas"/>
              </a:defRPr>
            </a:pPr>
            <a:r>
              <a:t>[8] [3] [6] [2]   [7] [1] [5] [4]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61688"/>
            <a:ext cx="155448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5CBEFF"/>
                </a:solidFill>
                <a:latin typeface="Aptos"/>
              </a:defRPr>
            </a:pPr>
            <a:r>
              <a:t>Merge 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4315968"/>
            <a:ext cx="8778240" cy="50292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4407407"/>
            <a:ext cx="84124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6FC"/>
                </a:solidFill>
                <a:latin typeface="Consolas"/>
              </a:defRPr>
            </a:pPr>
            <a:r>
              <a:t>[3  8] [2  6]      [1  7] [4  5]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155448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5CBEFF"/>
                </a:solidFill>
                <a:latin typeface="Aptos"/>
              </a:defRPr>
            </a:pPr>
            <a:r>
              <a:t>Final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3160" y="5074920"/>
            <a:ext cx="8778240" cy="50292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5166359"/>
            <a:ext cx="841248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6FC"/>
                </a:solidFill>
                <a:latin typeface="Consolas"/>
              </a:defRPr>
            </a:pPr>
            <a:r>
              <a:t>[2  3  6  8]       [1  4  5  7]  →  [1 2 3 4 5 6 7 8]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15600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4C3D7"/>
                </a:solidFill>
                <a:latin typeface="Aptos"/>
              </a:defRPr>
            </a:pPr>
            <a:r>
              <a:t>Interactive merge-sort trace is included after the slide deck.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Merge sort: recursive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577840" cy="4892040"/>
          </a:xfrm>
          <a:prstGeom prst="roundRect">
            <a:avLst/>
          </a:prstGeom>
          <a:solidFill>
            <a:srgbClr val="080E19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435607"/>
            <a:ext cx="5321807" cy="4672583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DCAF"/>
                </a:solidFill>
                <a:latin typeface="Consolas"/>
              </a:defRPr>
            </a:pPr>
            <a:r>
              <a:t>void mergeSort(vector&lt;int&gt;&amp; a,</a:t>
            </a:r>
          </a:p>
          <a:p>
            <a:pPr>
              <a:spcAft>
                <a:spcPts val="500"/>
              </a:spcAft>
              <a:defRPr sz="1400" b="0">
                <a:solidFill>
                  <a:srgbClr val="5ADCAF"/>
                </a:solidFill>
                <a:latin typeface="Consolas"/>
              </a:defRPr>
            </a:pPr>
            <a:r>
              <a:t>               int l, int r) {</a:t>
            </a:r>
          </a:p>
          <a:p>
            <a:pPr>
              <a:spcAft>
                <a:spcPts val="500"/>
              </a:spcAft>
              <a:defRPr sz="1400" b="0">
                <a:solidFill>
                  <a:srgbClr val="5ADCAF"/>
                </a:solidFill>
                <a:latin typeface="Consolas"/>
              </a:defRPr>
            </a:pPr>
            <a:r>
              <a:t>    if (l &gt;= r) return;</a:t>
            </a:r>
          </a:p>
          <a:p>
            <a:pPr>
              <a:spcAft>
                <a:spcPts val="500"/>
              </a:spcAft>
              <a:defRPr sz="1400" b="0">
                <a:solidFill>
                  <a:srgbClr val="5ADCAF"/>
                </a:solidFill>
                <a:latin typeface="Consolas"/>
              </a:defRPr>
            </a:pPr>
            <a:r>
              <a:t>    int m = l + (r - l) / 2;</a:t>
            </a:r>
          </a:p>
          <a:p>
            <a:pPr>
              <a:spcAft>
                <a:spcPts val="500"/>
              </a:spcAft>
              <a:defRPr sz="1400" b="0">
                <a:solidFill>
                  <a:srgbClr val="5ADCAF"/>
                </a:solidFill>
                <a:latin typeface="Consolas"/>
              </a:defRPr>
            </a:pPr>
            <a:r>
              <a:t>    mergeSort(a, l, m);</a:t>
            </a:r>
          </a:p>
          <a:p>
            <a:pPr>
              <a:spcAft>
                <a:spcPts val="500"/>
              </a:spcAft>
              <a:defRPr sz="1400" b="0">
                <a:solidFill>
                  <a:srgbClr val="5ADCAF"/>
                </a:solidFill>
                <a:latin typeface="Consolas"/>
              </a:defRPr>
            </a:pPr>
            <a:r>
              <a:t>    mergeSort(a, m + 1, r);</a:t>
            </a:r>
          </a:p>
          <a:p>
            <a:pPr>
              <a:spcAft>
                <a:spcPts val="500"/>
              </a:spcAft>
              <a:defRPr sz="1400" b="0">
                <a:solidFill>
                  <a:srgbClr val="5ADCAF"/>
                </a:solidFill>
                <a:latin typeface="Consolas"/>
              </a:defRPr>
            </a:pPr>
            <a:r>
              <a:t>    merge(a, l, m, r);</a:t>
            </a:r>
          </a:p>
          <a:p>
            <a:pPr>
              <a:spcAft>
                <a:spcPts val="500"/>
              </a:spcAft>
              <a:defRPr sz="1400" b="0">
                <a:solidFill>
                  <a:srgbClr val="5ADCA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08760"/>
            <a:ext cx="5029200" cy="429768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636776"/>
            <a:ext cx="470001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What does merge() 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039112"/>
            <a:ext cx="4700016" cy="36758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It receives two sorted ranges: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Left:  [2, 8]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Right: [3, 6]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Compare their front elements: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2 &lt; 3 → take 2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8 &gt; 3 → take 3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8 &gt; 6 → take 6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Append remaining 8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Result: [2, 3, 6, 8]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Merge sort: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237744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82495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CBEFF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1"/>
            <a:ext cx="3054096" cy="17556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O(n log n)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There are log n levels; each level processes n elements.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237744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82495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D5A"/>
                </a:solidFill>
                <a:latin typeface="Aptos"/>
              </a:defRPr>
            </a:pPr>
            <a:r>
              <a:t>Extra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84831"/>
            <a:ext cx="3054096" cy="17556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O(n)</a:t>
            </a: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Temporary array is used while merging.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237744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82495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Stable?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084831"/>
            <a:ext cx="3054096" cy="17556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Yes, with a correct merge that takes from the left on equal values.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2F6FC"/>
                </a:solidFill>
                <a:latin typeface="Aptos"/>
              </a:defRPr>
            </a:pPr>
            <a:r>
              <a:t>Best / average / worst time: O(n log 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Quick sort: choose a pivot, partition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CD5A"/>
                </a:solidFill>
                <a:latin typeface="Aptos"/>
              </a:defRPr>
            </a:pPr>
            <a:r>
              <a:t>Example: [6, 3, 8, 2, 7, 1, 5]     choose pivot =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383280" cy="246888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85416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CBEFF"/>
                </a:solidFill>
                <a:latin typeface="Aptos"/>
              </a:defRPr>
            </a:pPr>
            <a:r>
              <a:t>LEFT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87752"/>
            <a:ext cx="3054096" cy="18470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Values smaller than pivot</a:t>
            </a:r>
          </a:p>
          <a:p>
            <a:pPr>
              <a:spcAft>
                <a:spcPts val="5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[3, 2, 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383280" cy="246888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185416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D5A"/>
                </a:solidFill>
                <a:latin typeface="Aptos"/>
              </a:defRPr>
            </a:pPr>
            <a: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87752"/>
            <a:ext cx="3054096" cy="18470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Pivot is placed in its final sorted position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57400"/>
            <a:ext cx="3383280" cy="246888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2185416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587752"/>
            <a:ext cx="3054096" cy="18470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Values greater than pivot</a:t>
            </a:r>
          </a:p>
          <a:p>
            <a:pPr>
              <a:spcAft>
                <a:spcPts val="5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[6, 8, 7]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2F6FC"/>
                </a:solidFill>
                <a:latin typeface="Aptos"/>
              </a:defRPr>
            </a:pPr>
            <a:r>
              <a:t>Then recursively sort the left and right parts.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Quick sort: recursive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760720" cy="4709160"/>
          </a:xfrm>
          <a:prstGeom prst="roundRect">
            <a:avLst/>
          </a:prstGeom>
          <a:solidFill>
            <a:srgbClr val="080E19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481328"/>
            <a:ext cx="5504688" cy="448970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void quickSort(vector&lt;int&gt;&amp; a,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           int l, int r) {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if (l &gt;= r) return;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int p = partition(a, l, r);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quickSort(a, l, p - 1);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    quickSort(a, p + 1, r);</a:t>
            </a:r>
          </a:p>
          <a:p>
            <a:pPr>
              <a:spcAft>
                <a:spcPts val="500"/>
              </a:spcAft>
              <a:defRPr sz="1500" b="0">
                <a:solidFill>
                  <a:srgbClr val="5ADCA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554480"/>
            <a:ext cx="4754880" cy="420624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682495"/>
            <a:ext cx="44256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D5A"/>
                </a:solidFill>
                <a:latin typeface="Aptos"/>
              </a:defRPr>
            </a:pPr>
            <a:r>
              <a:t>Partition's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3992" y="2084831"/>
            <a:ext cx="4425696" cy="3584447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1. Pick a pivot.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2. Rearrange elements so smaller values go left and larger values go right.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3. Return the pivot's final index.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After partition, the pivot is already in its correct sorted position.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Quick sort: complexity depends on the 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46888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82495"/>
            <a:ext cx="4791455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Average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1"/>
            <a:ext cx="4791455" cy="18470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O(n log n)</a:t>
            </a:r>
          </a:p>
          <a:p>
            <a:pPr>
              <a:spcAft>
                <a:spcPts val="500"/>
              </a:spcAft>
              <a:defRPr sz="19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Partitions are reasonably balanced.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246888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82495"/>
            <a:ext cx="4791455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2A0"/>
                </a:solidFill>
                <a:latin typeface="Aptos"/>
              </a:defRPr>
            </a:pPr>
            <a:r>
              <a:t>Worst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1"/>
            <a:ext cx="4791455" cy="18470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O(n²)</a:t>
            </a:r>
          </a:p>
          <a:p>
            <a:pPr>
              <a:spcAft>
                <a:spcPts val="500"/>
              </a:spcAft>
              <a:defRPr sz="19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900" b="0">
                <a:solidFill>
                  <a:srgbClr val="F2F6FC"/>
                </a:solidFill>
                <a:latin typeface="Aptos"/>
              </a:defRPr>
            </a:pPr>
            <a:r>
              <a:t>A highly unbalanced split repeats work on almost the whole array.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10332720" cy="6858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Randomised pivot / median-style strategies help reduce the chance of bad partitions.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Merge sort vs Quick 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103120" cy="502920"/>
          </a:xfrm>
          <a:prstGeom prst="roundRect">
            <a:avLst/>
          </a:prstGeom>
          <a:solidFill>
            <a:srgbClr val="233C55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73352"/>
            <a:ext cx="1956815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2834639" y="1554480"/>
            <a:ext cx="4206240" cy="502920"/>
          </a:xfrm>
          <a:prstGeom prst="roundRect">
            <a:avLst/>
          </a:prstGeom>
          <a:solidFill>
            <a:srgbClr val="233C55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1" y="1673352"/>
            <a:ext cx="4059935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Merge sort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79" y="1554480"/>
            <a:ext cx="4206240" cy="502920"/>
          </a:xfrm>
          <a:prstGeom prst="roundRect">
            <a:avLst/>
          </a:prstGeom>
          <a:solidFill>
            <a:srgbClr val="233C55"/>
          </a:solidFill>
          <a:ln>
            <a:solidFill>
              <a:srgbClr val="5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1" y="1673352"/>
            <a:ext cx="4059935" cy="22860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Quick sort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21408"/>
            <a:ext cx="210312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249424"/>
            <a:ext cx="195681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5ADCAF"/>
                </a:solidFill>
                <a:latin typeface="Aptos"/>
              </a:defRPr>
            </a:pPr>
            <a:r>
              <a:t>Main idea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39" y="2121408"/>
            <a:ext cx="420624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1" y="2249424"/>
            <a:ext cx="405993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Split, sort, merge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79" y="2121408"/>
            <a:ext cx="420624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1" y="2249424"/>
            <a:ext cx="405993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Pivot, partition, sort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34639"/>
            <a:ext cx="210312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962656"/>
            <a:ext cx="195681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5ADCAF"/>
                </a:solidFill>
                <a:latin typeface="Aptos"/>
              </a:defRPr>
            </a:pPr>
            <a:r>
              <a:t>Average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39" y="2834639"/>
            <a:ext cx="420624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1" y="2962656"/>
            <a:ext cx="405993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O(n log 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79" y="2834639"/>
            <a:ext cx="420624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1" y="2962656"/>
            <a:ext cx="405993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O(n log 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547872"/>
            <a:ext cx="210312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675887"/>
            <a:ext cx="195681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5ADCAF"/>
                </a:solidFill>
                <a:latin typeface="Aptos"/>
              </a:defRPr>
            </a:pPr>
            <a:r>
              <a:t>Worst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39" y="3547872"/>
            <a:ext cx="420624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7791" y="3675887"/>
            <a:ext cx="405993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O(n log 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79" y="3547872"/>
            <a:ext cx="420624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1" y="3675887"/>
            <a:ext cx="405993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61104"/>
            <a:ext cx="210312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389120"/>
            <a:ext cx="195681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5ADCAF"/>
                </a:solidFill>
                <a:latin typeface="Aptos"/>
              </a:defRPr>
            </a:pPr>
            <a:r>
              <a:t>Extra space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39" y="4261104"/>
            <a:ext cx="420624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07791" y="4389120"/>
            <a:ext cx="405993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79" y="4261104"/>
            <a:ext cx="420624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4031" y="4389120"/>
            <a:ext cx="405993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Usually O(log n) stack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974336"/>
            <a:ext cx="210312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102352"/>
            <a:ext cx="195681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5ADCAF"/>
                </a:solidFill>
                <a:latin typeface="Aptos"/>
              </a:defRPr>
            </a:pPr>
            <a:r>
              <a:t>Stable?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34639" y="4974336"/>
            <a:ext cx="420624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07791" y="5102352"/>
            <a:ext cx="405993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Yes (standard merge)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79" y="4974336"/>
            <a:ext cx="4206240" cy="566928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1" y="5102352"/>
            <a:ext cx="4059935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Usually no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Common recursion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20640" cy="356616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36776"/>
            <a:ext cx="4791455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82A0"/>
                </a:solidFill>
                <a:latin typeface="Aptos"/>
              </a:defRPr>
            </a:pPr>
            <a:r>
              <a:t>Watch out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39112"/>
            <a:ext cx="4791455" cy="2944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• Missing base case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• Recursive call doesn't move toward base case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• Wrong range / index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• Forgetting to undo a choice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• Confusing call order with return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120640" cy="356616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36776"/>
            <a:ext cx="4791455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Debugging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039112"/>
            <a:ext cx="4791455" cy="2944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• Write the smallest input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• Trace calls on paper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• Mark what each call returns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• Check the base case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• Check whether state is shared or copied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Let's practise — predict before running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356616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91056"/>
            <a:ext cx="4791455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CBEFF"/>
                </a:solidFill>
                <a:latin typeface="Aptos"/>
              </a:defRPr>
            </a:pPr>
            <a:r>
              <a:t>Q1: What gets printed?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4791455" cy="2944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void f(int n) {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    if (n == 0) return;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    cout &lt;&lt; n &lt;&lt; " ";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    f(n - 1);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}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f(3);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20640" cy="356616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91056"/>
            <a:ext cx="4791455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D5A"/>
                </a:solidFill>
                <a:latin typeface="Aptos"/>
              </a:defRPr>
            </a:pPr>
            <a:r>
              <a:t>Q2: How many outputs?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93392"/>
            <a:ext cx="4791455" cy="29443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Generate all subsequences of an array of 4 distinct elements.</a:t>
            </a: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F2F6FC"/>
                </a:solidFill>
                <a:latin typeface="Aptos"/>
              </a:defRPr>
            </a:pPr>
            <a:r>
              <a:t>How many leaves will the take/skip recursion tree have?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Answers: Q1 → 3 2 1     •     Q2 → 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5CBEFF"/>
                </a:solidFill>
                <a:latin typeface="Aptos"/>
              </a:defRPr>
            </a:pPr>
            <a:r>
              <a:t>RECURSION • BEGINNER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2F6FC"/>
                </a:solidFill>
                <a:latin typeface="Aptos"/>
              </a:defRPr>
            </a:pPr>
            <a:r>
              <a:t>The mental model to take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4C3D7"/>
                </a:solidFill>
                <a:latin typeface="Aptos"/>
              </a:defRPr>
            </a:pPr>
            <a:r>
              <a:t>DSA BOOTCAMP  •  Think in smaller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310896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36776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CBEFF"/>
                </a:solidFill>
                <a:latin typeface="Aptos"/>
              </a:defRPr>
            </a:pPr>
            <a:r>
              <a:t>One smaller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39112"/>
            <a:ext cx="3054096" cy="2487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Can I solve a smaller input and use its result?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310896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36776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D5A"/>
                </a:solidFill>
                <a:latin typeface="Aptos"/>
              </a:defRPr>
            </a:pPr>
            <a:r>
              <a:t>Stop safely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39112"/>
            <a:ext cx="3054096" cy="2487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What is the smallest input I can answer directly?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83280" cy="3108960"/>
          </a:xfrm>
          <a:prstGeom prst="roundRect">
            <a:avLst/>
          </a:prstGeom>
          <a:solidFill>
            <a:srgbClr val="19263C"/>
          </a:solidFill>
          <a:ln>
            <a:solidFill>
              <a:srgbClr val="19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36776"/>
            <a:ext cx="3054096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5ADCAF"/>
                </a:solidFill>
                <a:latin typeface="Aptos"/>
              </a:defRPr>
            </a:pPr>
            <a:r>
              <a:t>Trust the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039112"/>
            <a:ext cx="3054096" cy="2487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Calls pause; answers return in reverse order.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2F6FC"/>
                </a:solidFill>
                <a:latin typeface="Aptos"/>
              </a:defRPr>
            </a:pPr>
            <a:r>
              <a:t>Recursion becomes easier when you trace one call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