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6D3BE"/>
                </a:solidFill>
                <a:latin typeface="Aptos"/>
              </a:defRPr>
            </a:pPr>
            <a:r>
              <a:t>DSA BOOTCAMP  •  BEGINNER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1234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5F8FF"/>
                </a:solidFill>
                <a:latin typeface="Aptos"/>
              </a:defRPr>
            </a:pPr>
            <a:r>
              <a:t>STACKS &amp; QUEUES</a:t>
            </a:r>
          </a:p>
          <a:p>
            <a:pPr>
              <a:spcAft>
                <a:spcPts val="600"/>
              </a:spcAft>
              <a:defRPr sz="3400" b="1">
                <a:solidFill>
                  <a:srgbClr val="F5F8FF"/>
                </a:solidFill>
                <a:latin typeface="Aptos"/>
              </a:defRPr>
            </a:pPr>
            <a:r>
              <a:t>(STL) + BASIC 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B7C3DA"/>
                </a:solidFill>
                <a:latin typeface="Aptos"/>
              </a:defRPr>
            </a:pPr>
            <a:r>
              <a:t>Understand the idea → Visualise the operations → Write C++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166360"/>
            <a:ext cx="3246120" cy="8229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276088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TODAY'S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5669280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Know when and how to use each concept.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166360"/>
            <a:ext cx="3246120" cy="8229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5276088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5669280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C++ with Standard Template Library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5166360"/>
            <a:ext cx="3246120" cy="8229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5276088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82A0"/>
                </a:solidFill>
                <a:latin typeface="Aptos"/>
              </a:defRPr>
            </a:pPr>
            <a:r>
              <a:t>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5669280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Starting from zero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Today's 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Four ideas, one connected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514600" cy="29260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38528"/>
            <a:ext cx="21854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2185416" cy="2331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Last In, First Out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Undo, browser back, plates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4173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6D3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2514600" cy="29260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938528"/>
            <a:ext cx="21854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331720"/>
            <a:ext cx="2185416" cy="2331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First In, First Out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Ticket line, printer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14173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CC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2514600" cy="29260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938528"/>
            <a:ext cx="21854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70A6FF"/>
                </a:solidFill>
                <a:latin typeface="Aptos"/>
              </a:defRPr>
            </a:pPr>
            <a:r>
              <a:t>STL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331720"/>
            <a:ext cx="2185416" cy="2331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Ready-made containers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push, pop, front, 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4173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70A6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828800"/>
            <a:ext cx="2514600" cy="29260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1938528"/>
            <a:ext cx="21854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82A0"/>
                </a:solidFill>
                <a:latin typeface="Aptos"/>
              </a:defRPr>
            </a:pPr>
            <a:r>
              <a:t>OOPS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331720"/>
            <a:ext cx="2185416" cy="2331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Objects + classes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Blueprints and real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14173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82A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First: what is a data structure?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Think of data structures as different ways to arrange your belongings.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F5F8FF"/>
                </a:solidFill>
                <a:latin typeface="Aptos"/>
              </a:defRPr>
            </a:pPr>
            <a:r>
              <a:t>• A data structure is a way to organise and store data.</a:t>
            </a:r>
          </a:p>
          <a:p>
            <a:pPr>
              <a:spcAft>
                <a:spcPts val="600"/>
              </a:spcAft>
              <a:defRPr sz="2100" b="0">
                <a:solidFill>
                  <a:srgbClr val="F5F8FF"/>
                </a:solidFill>
                <a:latin typeface="Aptos"/>
              </a:defRPr>
            </a:pPr>
            <a:r>
              <a:t>• Good organisation makes operations easier and faster.</a:t>
            </a:r>
          </a:p>
          <a:p>
            <a:pPr>
              <a:spcAft>
                <a:spcPts val="600"/>
              </a:spcAft>
              <a:defRPr sz="2100" b="0">
                <a:solidFill>
                  <a:srgbClr val="F5F8FF"/>
                </a:solidFill>
                <a:latin typeface="Aptos"/>
              </a:defRPr>
            </a:pPr>
            <a:r>
              <a:t>• Different problems need different ways of organising data.</a:t>
            </a:r>
          </a:p>
          <a:p>
            <a:pPr>
              <a:spcAft>
                <a:spcPts val="600"/>
              </a:spcAft>
              <a:defRPr sz="2100" b="0">
                <a:solidFill>
                  <a:srgbClr val="F5F8FF"/>
                </a:solidFill>
                <a:latin typeface="Aptos"/>
              </a:defRPr>
            </a:pPr>
            <a:r>
              <a:t>• Today: Stack and Queue are linear data structures.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577840"/>
            <a:ext cx="10561320" cy="68580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5687568"/>
            <a:ext cx="10232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TEACHING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6080759"/>
            <a:ext cx="10232136" cy="9143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Ask: Would you store books in a pile or stand in a line to get a ticket?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1. STACK — a pile of 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LIFO = Last In, First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657600" cy="44805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27048"/>
            <a:ext cx="33284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REAL-LIFE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20240"/>
            <a:ext cx="3328416" cy="3886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Imagine stacking plates.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You place a new plate on top.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When you need one, you take the top plate first.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You do not normally remove the plate at the bottom.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41732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CC5C"/>
                </a:solidFill>
                <a:latin typeface="Aptos"/>
              </a:defRPr>
            </a:pPr>
            <a:r>
              <a:t>TOP  ← insertion and removal happen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965960"/>
            <a:ext cx="1828800" cy="749808"/>
          </a:xfrm>
          <a:prstGeom prst="roundRect">
            <a:avLst/>
          </a:prstGeom>
          <a:solidFill>
            <a:srgbClr val="36D3BE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7568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21B30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926080"/>
            <a:ext cx="1828800" cy="749808"/>
          </a:xfrm>
          <a:prstGeom prst="roundRect">
            <a:avLst/>
          </a:prstGeom>
          <a:solidFill>
            <a:srgbClr val="70A6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0358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21B3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886200"/>
            <a:ext cx="1828800" cy="749808"/>
          </a:xfrm>
          <a:prstGeom prst="roundRect">
            <a:avLst/>
          </a:prstGeom>
          <a:solidFill>
            <a:srgbClr val="263452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99592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21B3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057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← top()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0175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F"/>
                </a:solidFill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0" y="50749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B7C3DA"/>
                </a:solidFill>
                <a:latin typeface="Aptos"/>
              </a:defRPr>
            </a:pPr>
            <a:r>
              <a:t>BOTTOM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6928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If we add 40, it becomes the new top. If we remove, 30 leaves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Stack operations: push and pop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Follow the stack after every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057400" cy="42519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18488"/>
            <a:ext cx="17282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B7C3DA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B7C3DA"/>
                </a:solidFill>
                <a:latin typeface="Aptos"/>
              </a:defRPr>
            </a:pPr>
            <a:r>
              <a:t>(empty)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7492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C3DA"/>
                </a:solidFill>
                <a:latin typeface="Aptos"/>
              </a:defRPr>
            </a:pPr>
            <a:r>
              <a:t>No elements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508760"/>
            <a:ext cx="2057400" cy="42519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618488"/>
            <a:ext cx="17282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push(10)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7" y="2240280"/>
            <a:ext cx="1005840" cy="530352"/>
          </a:xfrm>
          <a:prstGeom prst="roundRect">
            <a:avLst/>
          </a:prstGeom>
          <a:solidFill>
            <a:srgbClr val="36D3BE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7" y="2295144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21B3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07492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C3DA"/>
                </a:solidFill>
                <a:latin typeface="Aptos"/>
              </a:defRPr>
            </a:pPr>
            <a:r>
              <a:t>Add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508760"/>
            <a:ext cx="2057400" cy="42519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1" y="1618488"/>
            <a:ext cx="17282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push(20)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87568" y="2240280"/>
            <a:ext cx="1005840" cy="530352"/>
          </a:xfrm>
          <a:prstGeom prst="roundRect">
            <a:avLst/>
          </a:prstGeom>
          <a:solidFill>
            <a:srgbClr val="36D3BE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87568" y="2295144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21B3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87568" y="2953512"/>
            <a:ext cx="1005840" cy="530352"/>
          </a:xfrm>
          <a:prstGeom prst="roundRect">
            <a:avLst/>
          </a:prstGeom>
          <a:solidFill>
            <a:srgbClr val="70A6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7568" y="300837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21B3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507492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C3DA"/>
                </a:solidFill>
                <a:latin typeface="Aptos"/>
              </a:defRPr>
            </a:pPr>
            <a:r>
              <a:t>Add 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508760"/>
            <a:ext cx="2057400" cy="42519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1618488"/>
            <a:ext cx="17282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push(30)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9288" y="2240280"/>
            <a:ext cx="1005840" cy="530352"/>
          </a:xfrm>
          <a:prstGeom prst="roundRect">
            <a:avLst/>
          </a:prstGeom>
          <a:solidFill>
            <a:srgbClr val="36D3BE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9288" y="2295144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21B30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9288" y="2953512"/>
            <a:ext cx="1005840" cy="530352"/>
          </a:xfrm>
          <a:prstGeom prst="roundRect">
            <a:avLst/>
          </a:prstGeom>
          <a:solidFill>
            <a:srgbClr val="70A6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300837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21B3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9288" y="3666744"/>
            <a:ext cx="1005840" cy="530352"/>
          </a:xfrm>
          <a:prstGeom prst="roundRect">
            <a:avLst/>
          </a:prstGeom>
          <a:solidFill>
            <a:srgbClr val="263452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9288" y="3721608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21B3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59" y="507492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C3DA"/>
                </a:solidFill>
                <a:latin typeface="Aptos"/>
              </a:defRPr>
            </a:pPr>
            <a:r>
              <a:t>Add 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1508760"/>
            <a:ext cx="2057400" cy="42519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94392" y="1618488"/>
            <a:ext cx="17282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pop()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51008" y="2240280"/>
            <a:ext cx="1005840" cy="530352"/>
          </a:xfrm>
          <a:prstGeom prst="roundRect">
            <a:avLst/>
          </a:prstGeom>
          <a:solidFill>
            <a:srgbClr val="36D3BE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51008" y="2295144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21B3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51008" y="2953512"/>
            <a:ext cx="1005840" cy="530352"/>
          </a:xfrm>
          <a:prstGeom prst="roundRect">
            <a:avLst/>
          </a:prstGeom>
          <a:solidFill>
            <a:srgbClr val="70A6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51008" y="300837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21B3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507492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C3DA"/>
                </a:solidFill>
                <a:latin typeface="Aptos"/>
              </a:defRPr>
            </a:pPr>
            <a:r>
              <a:t>Remove 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push = insert at top     |     pop = remove top     |     top = inspect top (does not remove)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C++ STL: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STL gives us a ready-made stack 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486400" cy="4526280"/>
          </a:xfrm>
          <a:prstGeom prst="roundRect">
            <a:avLst/>
          </a:prstGeom>
          <a:solidFill>
            <a:srgbClr val="0C1322"/>
          </a:solidFill>
          <a:ln>
            <a:solidFill>
              <a:srgbClr val="394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527048"/>
            <a:ext cx="5230368" cy="430682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#include &lt;bits/stdc++.h&gt;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using namespace std;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stack&lt;int&gt; st;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st.push(10);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st.push(20);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st.push(30);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cout &lt;&lt; st.top() &lt;&lt; "\\n"; // 30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st.pop();                  // removes 30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cout &lt;&lt; st.top() &lt;&lt; "\\n"; // 20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cout &lt;&lt; st.size() &lt;&lt; "\\n"; // 2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cout &lt;&lt; st.empty() &lt;&lt; "\\n"; // 0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508760"/>
            <a:ext cx="4800600" cy="42976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1618488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IMPORTANT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2011680"/>
            <a:ext cx="4471416" cy="3703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st.push(x)   → insert x on top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st.pop()      → remove top element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st.top()      → access top element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st.size()     → number of elements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st.empty()    → true if stack is empty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5486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C5C"/>
                </a:solidFill>
                <a:latin typeface="Aptos"/>
              </a:defRPr>
            </a:pPr>
            <a:r>
              <a:t>Note: pop() does not return the removed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Stack: where is it useful?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And one important safety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12080" cy="44805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REAL-WORLD / COMPUTER 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Undo in a text editor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Browser back history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Function calls / recursion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Balanced brackets: ( [ { }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Reversing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44805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82A0"/>
                </a:solidFill>
                <a:latin typeface="Aptos"/>
              </a:defRPr>
            </a:pPr>
            <a:r>
              <a:t>AVOID THIS MISTAKE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Calling top() or pop() on an empty stack is invalid.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Always check: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if (!st.empty()) {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    cout &lt;&lt; st.top();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    st.pop();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2. QUEUE — a line at a ticket counter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FIFO = First In, First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657600" cy="44805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27048"/>
            <a:ext cx="33284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REAL-LIFE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20240"/>
            <a:ext cx="3328416" cy="3886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People join at the back of a line.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The person who joined first gets served first.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New people join at the rear; service happens at the front.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60020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36D3BE"/>
                </a:solidFill>
                <a:latin typeface="Aptos"/>
              </a:defRPr>
            </a:pPr>
            <a:r>
              <a:t>FRONT  →  removal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2743200"/>
            <a:ext cx="1234440" cy="960120"/>
          </a:xfrm>
          <a:prstGeom prst="roundRect">
            <a:avLst/>
          </a:prstGeom>
          <a:solidFill>
            <a:srgbClr val="36D3BE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92608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121B3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79" y="2743200"/>
            <a:ext cx="1234440" cy="960120"/>
          </a:xfrm>
          <a:prstGeom prst="roundRect">
            <a:avLst/>
          </a:prstGeom>
          <a:solidFill>
            <a:srgbClr val="70A6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79" y="292608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121B3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743200"/>
            <a:ext cx="1234440" cy="960120"/>
          </a:xfrm>
          <a:prstGeom prst="roundRect">
            <a:avLst/>
          </a:prstGeom>
          <a:solidFill>
            <a:srgbClr val="263452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92608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121B3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06908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CC5C"/>
                </a:solidFill>
                <a:latin typeface="Aptos"/>
              </a:defRPr>
            </a:pPr>
            <a:r>
              <a:t>←  REAR: new elements join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029200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A entered first, so A leaves first — even though C joined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Queue operations: push and pop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In a queue, insertion and removal happen at opposite 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057400" cy="416052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64207"/>
            <a:ext cx="17282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B7C3DA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B7C3DA"/>
                </a:solidFill>
                <a:latin typeface="Aptos"/>
              </a:defRPr>
            </a:pPr>
            <a:r>
              <a:t>(empty)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C3DA"/>
                </a:solidFill>
                <a:latin typeface="Aptos"/>
              </a:defRPr>
            </a:pPr>
            <a:r>
              <a:t>No elements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554480"/>
            <a:ext cx="2057400" cy="416052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664207"/>
            <a:ext cx="17282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push(A)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0672" y="2743200"/>
            <a:ext cx="475488" cy="731520"/>
          </a:xfrm>
          <a:prstGeom prst="roundRect">
            <a:avLst/>
          </a:prstGeom>
          <a:solidFill>
            <a:srgbClr val="36D3BE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880360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21B3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493776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C3DA"/>
                </a:solidFill>
                <a:latin typeface="Aptos"/>
              </a:defRPr>
            </a:pPr>
            <a:r>
              <a:t>A joins rear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554480"/>
            <a:ext cx="2057400" cy="416052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1" y="1664207"/>
            <a:ext cx="17282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push(B)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22392" y="2743200"/>
            <a:ext cx="475488" cy="731520"/>
          </a:xfrm>
          <a:prstGeom prst="roundRect">
            <a:avLst/>
          </a:prstGeom>
          <a:solidFill>
            <a:srgbClr val="36D3BE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2880360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21B3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2744" y="2743200"/>
            <a:ext cx="475488" cy="731520"/>
          </a:xfrm>
          <a:prstGeom prst="roundRect">
            <a:avLst/>
          </a:prstGeom>
          <a:solidFill>
            <a:srgbClr val="70A6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2744" y="2880360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21B3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93776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C3DA"/>
                </a:solidFill>
                <a:latin typeface="Aptos"/>
              </a:defRPr>
            </a:pPr>
            <a:r>
              <a:t>B joins rear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554480"/>
            <a:ext cx="2057400" cy="416052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1664207"/>
            <a:ext cx="17282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push(C)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54111" y="2743200"/>
            <a:ext cx="475488" cy="731520"/>
          </a:xfrm>
          <a:prstGeom prst="roundRect">
            <a:avLst/>
          </a:prstGeom>
          <a:solidFill>
            <a:srgbClr val="36D3BE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1" y="2880360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21B3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3" y="2743200"/>
            <a:ext cx="475488" cy="731520"/>
          </a:xfrm>
          <a:prstGeom prst="roundRect">
            <a:avLst/>
          </a:prstGeom>
          <a:solidFill>
            <a:srgbClr val="70A6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3" y="2880360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21B3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14815" y="2743200"/>
            <a:ext cx="475488" cy="731520"/>
          </a:xfrm>
          <a:prstGeom prst="roundRect">
            <a:avLst/>
          </a:prstGeom>
          <a:solidFill>
            <a:srgbClr val="263452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14815" y="2880360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21B3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93776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C3DA"/>
                </a:solidFill>
                <a:latin typeface="Aptos"/>
              </a:defRPr>
            </a:pPr>
            <a:r>
              <a:t>C joins rear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1554480"/>
            <a:ext cx="2057400" cy="416052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94392" y="1664207"/>
            <a:ext cx="17282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pop()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85832" y="2743200"/>
            <a:ext cx="475488" cy="731520"/>
          </a:xfrm>
          <a:prstGeom prst="roundRect">
            <a:avLst/>
          </a:prstGeom>
          <a:solidFill>
            <a:srgbClr val="36D3BE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2880360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21B3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16184" y="2743200"/>
            <a:ext cx="475488" cy="731520"/>
          </a:xfrm>
          <a:prstGeom prst="roundRect">
            <a:avLst/>
          </a:prstGeom>
          <a:solidFill>
            <a:srgbClr val="70A6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16184" y="2880360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21B3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493776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C3DA"/>
                </a:solidFill>
                <a:latin typeface="Aptos"/>
              </a:defRPr>
            </a:pPr>
            <a:r>
              <a:t>A leaves front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push(x) = insert at rear     |     pop() = remove from front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C++ STL: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A queue is also available directly in STL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486400" cy="4526280"/>
          </a:xfrm>
          <a:prstGeom prst="roundRect">
            <a:avLst/>
          </a:prstGeom>
          <a:solidFill>
            <a:srgbClr val="0C1322"/>
          </a:solidFill>
          <a:ln>
            <a:solidFill>
              <a:srgbClr val="394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527048"/>
            <a:ext cx="5230368" cy="430682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#include &lt;bits/stdc++.h&gt;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using namespace std;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queue&lt;int&gt; q;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q.push(10);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q.push(20);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q.push(30);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cout &lt;&lt; q.front() &lt;&lt; "\\n"; // 10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q.pop();                     // removes 10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cout &lt;&lt; q.front() &lt;&lt; "\\n"; // 20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cout &lt;&lt; q.back() &lt;&lt; "\\n";  // 30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cout &lt;&lt; q.size() &lt;&lt; "\\n";  // 2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508760"/>
            <a:ext cx="4800600" cy="42976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1618488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IMPORTANT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2011680"/>
            <a:ext cx="4471416" cy="3703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q.push(x)    → insert at rear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q.pop()       → remove from front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q.front()     → first element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q.back()      → last element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q.size()      → number of elements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q.empty()     → true if queue is empty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5486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82A0"/>
                </a:solidFill>
                <a:latin typeface="Aptos"/>
              </a:defRPr>
            </a:pPr>
            <a:r>
              <a:t>Check q.empty() before front(), back() or pop().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Stack vs Queue — compare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The order of removal is the key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737360" cy="594360"/>
          </a:xfrm>
          <a:prstGeom prst="roundRect">
            <a:avLst/>
          </a:prstGeom>
          <a:solidFill>
            <a:srgbClr val="263452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90472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36D3BE"/>
                </a:solidFill>
                <a:latin typeface="Aptos"/>
              </a:defRPr>
            </a:pPr>
            <a:r>
              <a:t>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417320"/>
            <a:ext cx="4023360" cy="594360"/>
          </a:xfrm>
          <a:prstGeom prst="roundRect">
            <a:avLst/>
          </a:prstGeom>
          <a:solidFill>
            <a:srgbClr val="263452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490472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36D3BE"/>
                </a:solidFill>
                <a:latin typeface="Aptos"/>
              </a:defRPr>
            </a:pPr>
            <a:r>
              <a:t>LIFO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417320"/>
            <a:ext cx="4023360" cy="594360"/>
          </a:xfrm>
          <a:prstGeom prst="roundRect">
            <a:avLst/>
          </a:prstGeom>
          <a:solidFill>
            <a:srgbClr val="263452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1490472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36D3BE"/>
                </a:solidFill>
                <a:latin typeface="Aptos"/>
              </a:defRPr>
            </a:pPr>
            <a:r>
              <a:t>FIFO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30552"/>
            <a:ext cx="1737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203704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36D3BE"/>
                </a:solidFill>
                <a:latin typeface="Aptos"/>
              </a:defRPr>
            </a:pPr>
            <a:r>
              <a:t>Full 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130552"/>
            <a:ext cx="4023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2203704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Last In, First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130552"/>
            <a:ext cx="4023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3992" y="2203704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First In, First 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843784"/>
            <a:ext cx="1737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2916936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36D3BE"/>
                </a:solidFill>
                <a:latin typeface="Aptos"/>
              </a:defRPr>
            </a:pPr>
            <a:r>
              <a:t>Insert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2843784"/>
            <a:ext cx="4023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9192" y="2916936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Top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843784"/>
            <a:ext cx="4023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916936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Rear /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557015"/>
            <a:ext cx="1737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63016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36D3BE"/>
                </a:solidFill>
                <a:latin typeface="Aptos"/>
              </a:defRPr>
            </a:pPr>
            <a:r>
              <a:t>Remove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6040" y="3557015"/>
            <a:ext cx="4023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9192" y="3630168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Top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3557015"/>
            <a:ext cx="4023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3630168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270248"/>
            <a:ext cx="1737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343400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36D3BE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6040" y="4270248"/>
            <a:ext cx="4023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9192" y="4343400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top()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270248"/>
            <a:ext cx="4023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3992" y="4343400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front(), back()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983480"/>
            <a:ext cx="1737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5056632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36D3BE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06040" y="4983480"/>
            <a:ext cx="4023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79192" y="5056632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Pile of plates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4983480"/>
            <a:ext cx="4023360" cy="594360"/>
          </a:xfrm>
          <a:prstGeom prst="roundRect">
            <a:avLst/>
          </a:prstGeom>
          <a:solidFill>
            <a:srgbClr val="1C2740"/>
          </a:solidFill>
          <a:ln>
            <a:solidFill>
              <a:srgbClr val="40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93992" y="5056632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Ticket 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98932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CC5C"/>
                </a:solidFill>
                <a:latin typeface="Aptos"/>
              </a:defRPr>
            </a:pPr>
            <a:r>
              <a:t>Quick memory trick: Stack = pile. Queue = 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Queue: use cases and time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Why queues are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12080" cy="443484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COMMON 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4882896" cy="38404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Printer jobs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People waiting for service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CPU / task scheduling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Breadth First Search (BFS)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Messages waiting to be processed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443484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STL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20240"/>
            <a:ext cx="4882896" cy="38404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push()   → O(1)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pop()    → O(1)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front()  → O(1)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back()   → O(1)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size()   → O(1)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For stack, push/pop/top are also O(1).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Let's trace it together!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Ask students to predict the output before revealing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5120640" cy="4389120"/>
          </a:xfrm>
          <a:prstGeom prst="roundRect">
            <a:avLst/>
          </a:prstGeom>
          <a:solidFill>
            <a:srgbClr val="0C1322"/>
          </a:solidFill>
          <a:ln>
            <a:solidFill>
              <a:srgbClr val="394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572768"/>
            <a:ext cx="4864607" cy="4169663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CFE2FF"/>
                </a:solidFill>
                <a:latin typeface="Consolas"/>
              </a:defRPr>
            </a:pPr>
            <a:r>
              <a:t>stack&lt;int&gt; st;</a:t>
            </a:r>
          </a:p>
          <a:p>
            <a:pPr>
              <a:spcAft>
                <a:spcPts val="600"/>
              </a:spcAft>
              <a:defRPr sz="1700" b="0">
                <a:solidFill>
                  <a:srgbClr val="CFE2FF"/>
                </a:solidFill>
                <a:latin typeface="Consolas"/>
              </a:defRPr>
            </a:pPr>
            <a:r>
              <a:t>st.push(4);</a:t>
            </a:r>
          </a:p>
          <a:p>
            <a:pPr>
              <a:spcAft>
                <a:spcPts val="600"/>
              </a:spcAft>
              <a:defRPr sz="1700" b="0">
                <a:solidFill>
                  <a:srgbClr val="CFE2FF"/>
                </a:solidFill>
                <a:latin typeface="Consolas"/>
              </a:defRPr>
            </a:pPr>
            <a:r>
              <a:t>st.push(7);</a:t>
            </a:r>
          </a:p>
          <a:p>
            <a:pPr>
              <a:spcAft>
                <a:spcPts val="600"/>
              </a:spcAft>
              <a:defRPr sz="1700" b="0">
                <a:solidFill>
                  <a:srgbClr val="CFE2FF"/>
                </a:solidFill>
                <a:latin typeface="Consolas"/>
              </a:defRPr>
            </a:pPr>
            <a:r>
              <a:t>st.push(9);</a:t>
            </a:r>
          </a:p>
          <a:p>
            <a:pPr>
              <a:spcAft>
                <a:spcPts val="600"/>
              </a:spcAft>
              <a:defRPr sz="1700" b="0">
                <a:solidFill>
                  <a:srgbClr val="CFE2FF"/>
                </a:solidFill>
                <a:latin typeface="Consolas"/>
              </a:defRPr>
            </a:pPr>
            <a:r>
              <a:t>st.pop();</a:t>
            </a:r>
          </a:p>
          <a:p>
            <a:pPr>
              <a:spcAft>
                <a:spcPts val="600"/>
              </a:spcAft>
              <a:defRPr sz="1700" b="0">
                <a:solidFill>
                  <a:srgbClr val="CFE2FF"/>
                </a:solidFill>
                <a:latin typeface="Consolas"/>
              </a:defRPr>
            </a:pPr>
            <a:r>
              <a:t>st.push(2);</a:t>
            </a:r>
          </a:p>
          <a:p>
            <a:pPr>
              <a:spcAft>
                <a:spcPts val="600"/>
              </a:spcAft>
              <a:defRPr sz="17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CFE2FF"/>
                </a:solidFill>
                <a:latin typeface="Consolas"/>
              </a:defRPr>
            </a:pPr>
            <a:r>
              <a:t>cout &lt;&lt; st.top() &lt;&lt; "\\n";</a:t>
            </a:r>
          </a:p>
          <a:p>
            <a:pPr>
              <a:spcAft>
                <a:spcPts val="600"/>
              </a:spcAft>
              <a:defRPr sz="1700" b="0">
                <a:solidFill>
                  <a:srgbClr val="CFE2FF"/>
                </a:solidFill>
                <a:latin typeface="Consolas"/>
              </a:defRPr>
            </a:pPr>
            <a:r>
              <a:t>cout &lt;&lt; st.size() &lt;&lt; "\\n";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4937760" cy="182880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64207"/>
            <a:ext cx="460857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PAUSE &amp; THINK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57400"/>
            <a:ext cx="4608576" cy="1234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What is on the stack from top to bottom?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657600"/>
            <a:ext cx="4937760" cy="182880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3767328"/>
            <a:ext cx="460857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2DC96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4160520"/>
            <a:ext cx="4608576" cy="1234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Top = 2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Size = 3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Stack: 2, 7,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Common STL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Small syntax differences matter!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F5F8FF"/>
                </a:solidFill>
                <a:latin typeface="Aptos"/>
              </a:defRPr>
            </a:pPr>
            <a:r>
              <a:t>• Using top() with stack — queue uses front() and back().</a:t>
            </a:r>
          </a:p>
          <a:p>
            <a:pPr>
              <a:spcAft>
                <a:spcPts val="600"/>
              </a:spcAft>
              <a:defRPr sz="2100" b="0">
                <a:solidFill>
                  <a:srgbClr val="F5F8FF"/>
                </a:solidFill>
                <a:latin typeface="Aptos"/>
              </a:defRPr>
            </a:pPr>
            <a:r>
              <a:t>• Thinking pop() returns the removed element — it returns nothing (void).</a:t>
            </a:r>
          </a:p>
          <a:p>
            <a:pPr>
              <a:spcAft>
                <a:spcPts val="600"/>
              </a:spcAft>
              <a:defRPr sz="2100" b="0">
                <a:solidFill>
                  <a:srgbClr val="F5F8FF"/>
                </a:solidFill>
                <a:latin typeface="Aptos"/>
              </a:defRPr>
            </a:pPr>
            <a:r>
              <a:t>• Calling top(), front(), back() or pop() on an empty container.</a:t>
            </a:r>
          </a:p>
          <a:p>
            <a:pPr>
              <a:spcAft>
                <a:spcPts val="600"/>
              </a:spcAft>
              <a:defRPr sz="2100" b="0">
                <a:solidFill>
                  <a:srgbClr val="F5F8FF"/>
                </a:solidFill>
                <a:latin typeface="Aptos"/>
              </a:defRPr>
            </a:pPr>
            <a:r>
              <a:t>• Confusing stack order (LIFO) with queue order (FIFO).</a:t>
            </a:r>
          </a:p>
          <a:p>
            <a:pPr>
              <a:spcAft>
                <a:spcPts val="600"/>
              </a:spcAft>
              <a:defRPr sz="2100" b="0">
                <a:solidFill>
                  <a:srgbClr val="F5F8FF"/>
                </a:solidFill>
                <a:latin typeface="Aptos"/>
              </a:defRPr>
            </a:pPr>
            <a:r>
              <a:t>• Forgetting the header: #include &lt;stack&gt; or #include &lt;queue&gt; (bits/stdc++.h also works in many CP setups).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3. BASIC OOPS — Object-Oriented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A way to organise code around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12080" cy="438912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82A0"/>
                </a:solidFill>
                <a:latin typeface="Aptos"/>
              </a:defRPr>
            </a:pPr>
            <a:r>
              <a:t>REAL-LIFE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4882896" cy="379475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 car has: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Data / properties: colour, brand, speed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Behaviours: start(), stop(), accelerate()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OOPS lets us represent such entities in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438912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20240"/>
            <a:ext cx="4882896" cy="379475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Class = blueprint / design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Object = actual item created from that blueprint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One class can create many objects, each with its own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Class vs Object — blueprint vs real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Class vs Object — blueprint vs real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749039" cy="347472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18488"/>
            <a:ext cx="341985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CLASS: 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3419856" cy="2880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Properties: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brand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colour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speed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Methods: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start()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accelerate()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brake()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CC5C"/>
                </a:solidFill>
                <a:latin typeface="Aptos"/>
              </a:defRPr>
            </a:pPr>
            <a:r>
              <a:t>creates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2103120" cy="347472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618488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70A6FF"/>
                </a:solidFill>
                <a:latin typeface="Aptos"/>
              </a:defRPr>
            </a:pPr>
            <a:r>
              <a:t>OBJECT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11680"/>
            <a:ext cx="1773936" cy="2880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brand = Tata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colour = Red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speed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508760"/>
            <a:ext cx="2103120" cy="347472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618488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82A0"/>
                </a:solidFill>
                <a:latin typeface="Aptos"/>
              </a:defRPr>
            </a:pPr>
            <a:r>
              <a:t>OBJECT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9992" y="2011680"/>
            <a:ext cx="1773936" cy="2880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brand = Honda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colour = Blue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speed = 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The class defines the structure; each object stores its own values.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C++: create a class and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A small example — Student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400800" cy="4892040"/>
          </a:xfrm>
          <a:prstGeom prst="roundRect">
            <a:avLst/>
          </a:prstGeom>
          <a:solidFill>
            <a:srgbClr val="0C1322"/>
          </a:solidFill>
          <a:ln>
            <a:solidFill>
              <a:srgbClr val="394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481328"/>
            <a:ext cx="6144768" cy="4672583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#include &lt;bits/stdc++.h&gt;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using namespace std;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class Student {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string name;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int age;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void introduce() {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    cout &lt;&lt; "Hi, I am " &lt;&lt; name;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Student s1;        // object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s1.name = "Aarav";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s1.age = 18;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    s1.introduce();</a:t>
            </a:r>
          </a:p>
          <a:p>
            <a:pPr>
              <a:spcAft>
                <a:spcPts val="600"/>
              </a:spcAft>
              <a:defRPr sz="1400" b="0">
                <a:solidFill>
                  <a:srgbClr val="CFE2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554480"/>
            <a:ext cx="3931920" cy="438912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664207"/>
            <a:ext cx="36027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2057400"/>
            <a:ext cx="3602736" cy="379475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class Student { ... } → blueprint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Student s1; → creates an object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s1.name → access a property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s1.introduce() → call a method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public: means these members can be accessed from outside the class.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The four pillars of 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Learn the names first; we will understand the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12080" cy="1874519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1. Encapsulation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4882896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Bundle data + methods; control access.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Like a capsule: related things stay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212080" cy="1874519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2. Abstraction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920240"/>
            <a:ext cx="4882896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Show essential features; hide internal details.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Drive a car without knowing engine internals.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5212080" cy="1874519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76732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70A6FF"/>
                </a:solidFill>
                <a:latin typeface="Aptos"/>
              </a:defRPr>
            </a:pPr>
            <a:r>
              <a:t>3. Inheritance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160520"/>
            <a:ext cx="4882896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 class can reuse features of another class.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 Dog is an Animal.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12080" cy="1874519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6732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82A0"/>
                </a:solidFill>
                <a:latin typeface="Aptos"/>
              </a:defRPr>
            </a:pPr>
            <a:r>
              <a:t>4. Polymorphism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60520"/>
            <a:ext cx="4882896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Same interface/name, different behaviour.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draw() behaves differently for Circle and Rectangle.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Access specifiers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Who can access a class member?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42976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3145536" cy="3703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Accessible from anywhere the object is visible.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Use for methods or data intended to be accessed outside.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74720" cy="42976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527048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82A0"/>
                </a:solidFill>
                <a:latin typeface="Aptos"/>
              </a:defRPr>
            </a:pPr>
            <a:r>
              <a:t>private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20240"/>
            <a:ext cx="3145536" cy="3703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Accessible only inside the same class (and friends).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Useful for protecting internal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474720" cy="42976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527048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protected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920240"/>
            <a:ext cx="3145536" cy="3703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Accessible inside the class and its derived classes.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Useful with inheritance.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In a C++ class, members are private by default.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Constructor: initialise an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A special function called automatically when an object is created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760720" cy="4526280"/>
          </a:xfrm>
          <a:prstGeom prst="roundRect">
            <a:avLst/>
          </a:prstGeom>
          <a:solidFill>
            <a:srgbClr val="0C1322"/>
          </a:solidFill>
          <a:ln>
            <a:solidFill>
              <a:srgbClr val="394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527048"/>
            <a:ext cx="5504688" cy="430682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class Student {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    string name;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    int age;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    Student(string n, int a) {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        name = n;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        age = a;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    Student s1("Aarav", 18);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    Student s2("Diya", 19);</a:t>
            </a:r>
          </a:p>
          <a:p>
            <a:pPr>
              <a:spcAft>
                <a:spcPts val="600"/>
              </a:spcAft>
              <a:defRPr sz="1500" b="0">
                <a:solidFill>
                  <a:srgbClr val="CFE2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554480"/>
            <a:ext cx="4480560" cy="42976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76872" y="1664207"/>
            <a:ext cx="415137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2057400"/>
            <a:ext cx="4151376" cy="3703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Constructor name = class name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No return type (not even void)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Runs automatically on object creation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Can accept parameters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Student s1("Aarav", 18);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passes values to the constructor.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Mini coding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Give students 5–7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4805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TASK A —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Create queue&lt;int&gt;.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1. Insert 5, 10, 15.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2. Print front and back.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3. Remove one element.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4. Print the new front and size.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44805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TASK B — 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Create a class Book with: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title (string)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pages (int)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• display() method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Create two Book objects and display their details.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Today's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Can you explain each in one sentence?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212080" cy="15544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74519"/>
            <a:ext cx="4882896" cy="96011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LIFO — last inserted element is removed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15544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8132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74519"/>
            <a:ext cx="4882896" cy="96011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FIFO — first inserted element is removed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5212080" cy="15544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3558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70A6FF"/>
                </a:solidFill>
                <a:latin typeface="Aptos"/>
              </a:defRPr>
            </a:pPr>
            <a:r>
              <a:t>STL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749039"/>
            <a:ext cx="4882896" cy="96011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Ready-made C++ containers with simple operations.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46120"/>
            <a:ext cx="5212080" cy="155448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3558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82A0"/>
                </a:solidFill>
                <a:latin typeface="Aptos"/>
              </a:defRPr>
            </a:pPr>
            <a:r>
              <a:t>OOPS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749039"/>
            <a:ext cx="4882896" cy="96011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Classes define blueprints; objects are instances.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5F8FF"/>
                </a:solidFill>
                <a:latin typeface="Aptos"/>
              </a:defRPr>
            </a:pPr>
            <a:r>
              <a:t>Next step: practise stack and queue operations, then build small classes.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Practice 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7C3DA"/>
                </a:solidFill>
                <a:latin typeface="Aptos"/>
              </a:defRPr>
            </a:pPr>
            <a:r>
              <a:t>Build confidence by implementing and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6D3BE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4805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D3BE"/>
                </a:solidFill>
                <a:latin typeface="Aptos"/>
              </a:defRPr>
            </a:pPr>
            <a:r>
              <a:t>STACK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1. Reverse a string using stack.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2. Check balanced parentheses.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3. Trace a sequence of push/pop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4480560"/>
          </a:xfrm>
          <a:prstGeom prst="roundRect">
            <a:avLst/>
          </a:prstGeom>
          <a:solidFill>
            <a:srgbClr val="1C2740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27048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C5C"/>
                </a:solidFill>
                <a:latin typeface="Aptos"/>
              </a:defRPr>
            </a:pPr>
            <a:r>
              <a:t>QUEUE + OOPS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1. Simulate a ticket counter using queue.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2. Create a Rectangle class with area().</a:t>
            </a:r>
          </a:p>
          <a:p>
            <a:pPr>
              <a:spcAft>
                <a:spcPts val="6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3. Create an Animal base class and Dog derived class.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3800" b="1">
                <a:solidFill>
                  <a:srgbClr val="F5F8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36D3BE"/>
                </a:solidFill>
                <a:latin typeface="Aptos"/>
              </a:defRPr>
            </a:pPr>
            <a:r>
              <a:t>Questions? Let's solve one example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B7C3DA"/>
                </a:solidFill>
                <a:latin typeface="Aptos"/>
              </a:defRPr>
            </a:pPr>
            <a:r>
              <a:t>Remember: understand the order first, then remember the syntax.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